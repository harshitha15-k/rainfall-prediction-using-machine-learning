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20"/>
  </p:notesMasterIdLst>
  <p:sldIdLst>
    <p:sldId id="315" r:id="rId2"/>
    <p:sldId id="267" r:id="rId3"/>
    <p:sldId id="306" r:id="rId4"/>
    <p:sldId id="307" r:id="rId5"/>
    <p:sldId id="308" r:id="rId6"/>
    <p:sldId id="309" r:id="rId7"/>
    <p:sldId id="310" r:id="rId8"/>
    <p:sldId id="322" r:id="rId9"/>
    <p:sldId id="311" r:id="rId10"/>
    <p:sldId id="312" r:id="rId11"/>
    <p:sldId id="316" r:id="rId12"/>
    <p:sldId id="317" r:id="rId13"/>
    <p:sldId id="318" r:id="rId14"/>
    <p:sldId id="319" r:id="rId15"/>
    <p:sldId id="321" r:id="rId16"/>
    <p:sldId id="313" r:id="rId17"/>
    <p:sldId id="314" r:id="rId18"/>
    <p:sldId id="320"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99"/>
    <a:srgbClr val="0000CC"/>
    <a:srgbClr val="0033CC"/>
    <a:srgbClr val="3333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F0BC53-4A76-47DB-9E57-416BCCE452AF}" type="datetimeFigureOut">
              <a:rPr lang="en-US" smtClean="0"/>
              <a:pPr/>
              <a:t>5/10/2024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3F1092-49B2-49E8-969E-E67D8E462F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3F1092-49B2-49E8-969E-E67D8E462F75}"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9A76F4-4496-4FDF-AC5A-381E28984F21}" type="datetime5">
              <a:rPr lang="en-US" smtClean="0"/>
              <a:pPr/>
              <a:t>10-May-24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3572946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C4FB5B-6DF9-44B3-ADFF-100BCD182FA1}" type="datetime5">
              <a:rPr lang="en-US" smtClean="0"/>
              <a:pPr/>
              <a:t>10-May-24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2027907305"/>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D5160D-B44D-47C6-B588-555142A81C69}" type="datetime5">
              <a:rPr lang="en-US" smtClean="0"/>
              <a:pPr/>
              <a:t>10-May-24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3677841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C4FB5B-6DF9-44B3-ADFF-100BCD182FA1}" type="datetime5">
              <a:rPr lang="en-US" smtClean="0"/>
              <a:pPr/>
              <a:t>10-May-24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979270664"/>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C4FB5B-6DF9-44B3-ADFF-100BCD182FA1}" type="datetime5">
              <a:rPr lang="en-US" smtClean="0"/>
              <a:pPr/>
              <a:t>10-May-24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3090721972"/>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118D53-111F-4D39-9FB1-2D26DB52EC22}" type="datetime5">
              <a:rPr lang="en-US" smtClean="0"/>
              <a:pPr/>
              <a:t>10-May-24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1438573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BB9D1CF2-3B9C-4849-81D4-36D2811F0294}" type="datetime5">
              <a:rPr lang="en-US" smtClean="0"/>
              <a:pPr/>
              <a:t>10-May-24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3314874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C4FB5B-6DF9-44B3-ADFF-100BCD182FA1}" type="datetime5">
              <a:rPr lang="en-US" smtClean="0"/>
              <a:pPr/>
              <a:t>10-May-24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1275266074"/>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9837F7-4F31-4326-9936-92E09C46DBFD}" type="datetime5">
              <a:rPr lang="en-US" smtClean="0"/>
              <a:pPr/>
              <a:t>10-May-24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3993610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C4FB5B-6DF9-44B3-ADFF-100BCD182FA1}" type="datetime5">
              <a:rPr lang="en-US" smtClean="0"/>
              <a:pPr/>
              <a:t>10-May-24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2700219459"/>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C4FB5B-6DF9-44B3-ADFF-100BCD182FA1}" type="datetime5">
              <a:rPr lang="en-US" smtClean="0"/>
              <a:pPr/>
              <a:t>10-May-24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2380034880"/>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C4FB5B-6DF9-44B3-ADFF-100BCD182FA1}" type="datetime5">
              <a:rPr lang="en-US" smtClean="0"/>
              <a:pPr/>
              <a:t>10-May-24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FE05F2-9AA5-451B-B6F4-72FBC3751DB5}" type="slidenum">
              <a:rPr lang="en-US" smtClean="0"/>
              <a:pPr/>
              <a:t>‹#›</a:t>
            </a:fld>
            <a:endParaRPr 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7018992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C4FB5B-6DF9-44B3-ADFF-100BCD182FA1}" type="datetime5">
              <a:rPr lang="en-US" smtClean="0"/>
              <a:pPr/>
              <a:t>10-May-24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1677473111"/>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C4FB5B-6DF9-44B3-ADFF-100BCD182FA1}" type="datetime5">
              <a:rPr lang="en-US" smtClean="0"/>
              <a:pPr/>
              <a:t>10-May-24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2071451043"/>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C4FB5B-6DF9-44B3-ADFF-100BCD182FA1}" type="datetime5">
              <a:rPr lang="en-US" smtClean="0"/>
              <a:pPr/>
              <a:t>10-May-24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1547377259"/>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C4FB5B-6DF9-44B3-ADFF-100BCD182FA1}" type="datetime5">
              <a:rPr lang="en-US" smtClean="0"/>
              <a:pPr/>
              <a:t>10-May-24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2476749368"/>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C4FB5B-6DF9-44B3-ADFF-100BCD182FA1}" type="datetime5">
              <a:rPr lang="en-US" smtClean="0"/>
              <a:pPr/>
              <a:t>10-May-24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268849918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A89EEA-63E4-45E1-B467-AD64BB88AEE0}" type="datetime5">
              <a:rPr lang="en-US" smtClean="0"/>
              <a:pPr/>
              <a:t>10-May-24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FE05F2-9AA5-451B-B6F4-72FBC3751DB5}" type="slidenum">
              <a:rPr lang="en-US" smtClean="0"/>
              <a:pPr/>
              <a:t>‹#›</a:t>
            </a:fld>
            <a:endParaRPr lang="en-US"/>
          </a:p>
        </p:txBody>
      </p:sp>
    </p:spTree>
    <p:extLst>
      <p:ext uri="{BB962C8B-B14F-4D97-AF65-F5344CB8AC3E}">
        <p14:creationId xmlns:p14="http://schemas.microsoft.com/office/powerpoint/2010/main" val="3554392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1CC4FB5B-6DF9-44B3-ADFF-100BCD182FA1}" type="datetime5">
              <a:rPr lang="en-US" smtClean="0"/>
              <a:pPr/>
              <a:t>10-May-24</a:t>
            </a:fld>
            <a:endParaRPr 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3FFE05F2-9AA5-451B-B6F4-72FBC3751DB5}" type="slidenum">
              <a:rPr lang="en-US" smtClean="0"/>
              <a:pPr/>
              <a:t>‹#›</a:t>
            </a:fld>
            <a:endParaRPr lang="en-US"/>
          </a:p>
        </p:txBody>
      </p:sp>
    </p:spTree>
    <p:extLst>
      <p:ext uri="{BB962C8B-B14F-4D97-AF65-F5344CB8AC3E}">
        <p14:creationId xmlns:p14="http://schemas.microsoft.com/office/powerpoint/2010/main" val="3728551642"/>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Lst>
  <p:hf hd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FB0FCA-4F70-BF88-0138-7225B99CB91F}"/>
              </a:ext>
            </a:extLst>
          </p:cNvPr>
          <p:cNvSpPr txBox="1">
            <a:spLocks/>
          </p:cNvSpPr>
          <p:nvPr/>
        </p:nvSpPr>
        <p:spPr>
          <a:xfrm>
            <a:off x="431032" y="296652"/>
            <a:ext cx="8712968" cy="6264696"/>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algn="ctr"/>
            <a:r>
              <a:rPr lang="en-US" sz="1800" b="1">
                <a:solidFill>
                  <a:schemeClr val="tx1">
                    <a:lumMod val="95000"/>
                    <a:lumOff val="5000"/>
                  </a:schemeClr>
                </a:solidFill>
                <a:latin typeface="Times New Roman" pitchFamily="18" charset="0"/>
                <a:cs typeface="Times New Roman" pitchFamily="18" charset="0"/>
              </a:rPr>
              <a:t>             DEPARTMENT </a:t>
            </a:r>
            <a:r>
              <a:rPr lang="en-US" sz="1800" b="1" dirty="0">
                <a:solidFill>
                  <a:schemeClr val="tx1">
                    <a:lumMod val="95000"/>
                    <a:lumOff val="5000"/>
                  </a:schemeClr>
                </a:solidFill>
                <a:latin typeface="Times New Roman" pitchFamily="18" charset="0"/>
                <a:cs typeface="Times New Roman" pitchFamily="18" charset="0"/>
              </a:rPr>
              <a:t>OF ARTIFICIAL INTELLIGENCE AND DATA  SCIENCE</a:t>
            </a:r>
            <a:br>
              <a:rPr lang="en-US" sz="1800" b="1" dirty="0">
                <a:solidFill>
                  <a:schemeClr val="tx1">
                    <a:lumMod val="95000"/>
                    <a:lumOff val="5000"/>
                  </a:schemeClr>
                </a:solidFill>
                <a:latin typeface="Times New Roman" pitchFamily="18" charset="0"/>
                <a:cs typeface="Times New Roman" pitchFamily="18" charset="0"/>
              </a:rPr>
            </a:br>
            <a:r>
              <a:rPr lang="en-US" sz="2200" b="1" dirty="0">
                <a:solidFill>
                  <a:schemeClr val="tx1">
                    <a:lumMod val="95000"/>
                    <a:lumOff val="5000"/>
                  </a:schemeClr>
                </a:solidFill>
                <a:latin typeface="Times New Roman" pitchFamily="18" charset="0"/>
                <a:cs typeface="Times New Roman" pitchFamily="18" charset="0"/>
              </a:rPr>
              <a:t>AUDISANKARA</a:t>
            </a:r>
            <a:r>
              <a:rPr lang="en-US" sz="2200" dirty="0">
                <a:solidFill>
                  <a:schemeClr val="tx1">
                    <a:lumMod val="95000"/>
                    <a:lumOff val="5000"/>
                  </a:schemeClr>
                </a:solidFill>
                <a:latin typeface="Times New Roman" pitchFamily="18" charset="0"/>
                <a:cs typeface="Times New Roman" pitchFamily="18" charset="0"/>
              </a:rPr>
              <a:t> </a:t>
            </a:r>
            <a:r>
              <a:rPr lang="en-US" sz="2200" b="1" dirty="0">
                <a:solidFill>
                  <a:schemeClr val="tx1">
                    <a:lumMod val="95000"/>
                    <a:lumOff val="5000"/>
                  </a:schemeClr>
                </a:solidFill>
                <a:latin typeface="Times New Roman" pitchFamily="18" charset="0"/>
                <a:cs typeface="Times New Roman" pitchFamily="18" charset="0"/>
              </a:rPr>
              <a:t>INSTITUTE OF  TECHNOLOGY</a:t>
            </a:r>
            <a:br>
              <a:rPr lang="en-US" sz="1800" b="1" dirty="0">
                <a:solidFill>
                  <a:schemeClr val="tx1">
                    <a:lumMod val="95000"/>
                    <a:lumOff val="5000"/>
                  </a:schemeClr>
                </a:solidFill>
                <a:latin typeface="Times New Roman" pitchFamily="18" charset="0"/>
                <a:cs typeface="Times New Roman" pitchFamily="18" charset="0"/>
              </a:rPr>
            </a:br>
            <a:r>
              <a:rPr lang="en-US" sz="1800" b="1" dirty="0">
                <a:solidFill>
                  <a:schemeClr val="tx1">
                    <a:lumMod val="95000"/>
                    <a:lumOff val="5000"/>
                  </a:schemeClr>
                </a:solidFill>
                <a:latin typeface="Times New Roman" pitchFamily="18" charset="0"/>
                <a:cs typeface="Times New Roman" pitchFamily="18" charset="0"/>
              </a:rPr>
              <a:t>(Autonomous)</a:t>
            </a:r>
            <a:br>
              <a:rPr lang="en-US" sz="1800" b="1" dirty="0">
                <a:solidFill>
                  <a:schemeClr val="tx1">
                    <a:lumMod val="95000"/>
                    <a:lumOff val="5000"/>
                  </a:schemeClr>
                </a:solidFill>
                <a:latin typeface="Times New Roman" pitchFamily="18" charset="0"/>
                <a:cs typeface="Times New Roman" pitchFamily="18" charset="0"/>
              </a:rPr>
            </a:br>
            <a:r>
              <a:rPr lang="en-US" sz="1800" b="1" dirty="0">
                <a:solidFill>
                  <a:srgbClr val="0070C0"/>
                </a:solidFill>
                <a:latin typeface="Times New Roman" pitchFamily="18" charset="0"/>
                <a:cs typeface="Times New Roman" pitchFamily="18" charset="0"/>
              </a:rPr>
              <a:t>Gudur,Tirupati-524101</a:t>
            </a:r>
            <a:br>
              <a:rPr lang="en-US" sz="1800" b="1" dirty="0">
                <a:solidFill>
                  <a:srgbClr val="002060"/>
                </a:solidFill>
                <a:latin typeface="Times New Roman" pitchFamily="18" charset="0"/>
                <a:cs typeface="Times New Roman" pitchFamily="18" charset="0"/>
              </a:rPr>
            </a:br>
            <a:r>
              <a:rPr lang="en-US" sz="2000" b="1" dirty="0">
                <a:solidFill>
                  <a:srgbClr val="FF0000"/>
                </a:solidFill>
                <a:latin typeface="Times New Roman" panose="02020603050405020304" pitchFamily="18" charset="0"/>
                <a:cs typeface="Times New Roman" panose="02020603050405020304" pitchFamily="18" charset="0"/>
              </a:rPr>
              <a:t>A</a:t>
            </a:r>
            <a:br>
              <a:rPr lang="en-US" sz="2000" b="1" dirty="0">
                <a:solidFill>
                  <a:srgbClr val="002060"/>
                </a:solidFill>
                <a:latin typeface="Times New Roman" panose="02020603050405020304" pitchFamily="18" charset="0"/>
                <a:cs typeface="Times New Roman" pitchFamily="18" charset="0"/>
              </a:rPr>
            </a:br>
            <a:r>
              <a:rPr lang="en-US" sz="2000" b="1" dirty="0">
                <a:solidFill>
                  <a:srgbClr val="002060"/>
                </a:solidFill>
                <a:latin typeface="Times New Roman" panose="02020603050405020304" pitchFamily="18" charset="0"/>
                <a:cs typeface="Times New Roman" pitchFamily="18" charset="0"/>
              </a:rPr>
              <a:t>Review</a:t>
            </a:r>
            <a:br>
              <a:rPr lang="en-US" sz="2000" b="1" dirty="0">
                <a:solidFill>
                  <a:srgbClr val="002060"/>
                </a:solidFill>
                <a:latin typeface="Times New Roman" panose="02020603050405020304" pitchFamily="18" charset="0"/>
                <a:cs typeface="Times New Roman" pitchFamily="18" charset="0"/>
              </a:rPr>
            </a:br>
            <a:r>
              <a:rPr lang="en-US" sz="2000" b="1" dirty="0">
                <a:solidFill>
                  <a:srgbClr val="FF0000"/>
                </a:solidFill>
                <a:latin typeface="Times New Roman" panose="02020603050405020304" pitchFamily="18" charset="0"/>
                <a:cs typeface="Times New Roman" panose="02020603050405020304" pitchFamily="18" charset="0"/>
              </a:rPr>
              <a:t>on</a:t>
            </a:r>
            <a:br>
              <a:rPr lang="en-US" sz="2000" b="1" dirty="0">
                <a:solidFill>
                  <a:srgbClr val="002060"/>
                </a:solidFill>
                <a:latin typeface="Times New Roman" panose="02020603050405020304" pitchFamily="18" charset="0"/>
                <a:cs typeface="Times New Roman" pitchFamily="18" charset="0"/>
              </a:rPr>
            </a:br>
            <a:r>
              <a:rPr lang="en-US" sz="1800" b="1" dirty="0">
                <a:latin typeface="Arial" panose="020B0604020202020204" pitchFamily="34" charset="0"/>
              </a:rPr>
              <a:t>Rain Prediction: Machine Learning Classification for Predicting Rainfall</a:t>
            </a:r>
            <a:br>
              <a:rPr lang="en-US" sz="2800" dirty="0">
                <a:solidFill>
                  <a:srgbClr val="002060"/>
                </a:solidFill>
                <a:latin typeface="Times New Roman" panose="02020603050405020304" pitchFamily="18" charset="0"/>
                <a:cs typeface="Times New Roman" pitchFamily="18" charset="0"/>
              </a:rPr>
            </a:br>
            <a:r>
              <a:rPr lang="en-US" sz="2800" dirty="0">
                <a:solidFill>
                  <a:schemeClr val="tx1"/>
                </a:solidFill>
                <a:latin typeface="Times New Roman" panose="02020603050405020304" pitchFamily="18" charset="0"/>
                <a:cs typeface="Times New Roman" pitchFamily="18" charset="0"/>
              </a:rPr>
              <a:t>Batch No-9</a:t>
            </a:r>
            <a:br>
              <a:rPr lang="en-US" sz="2800" dirty="0">
                <a:solidFill>
                  <a:srgbClr val="002060"/>
                </a:solidFill>
                <a:latin typeface="Times New Roman" pitchFamily="18" charset="0"/>
                <a:cs typeface="Times New Roman" pitchFamily="18" charset="0"/>
              </a:rPr>
            </a:br>
            <a:r>
              <a:rPr lang="en-US" sz="2800" b="1" dirty="0">
                <a:solidFill>
                  <a:srgbClr val="002060"/>
                </a:solidFill>
                <a:latin typeface="Times New Roman" pitchFamily="18" charset="0"/>
                <a:cs typeface="Times New Roman" pitchFamily="18" charset="0"/>
              </a:rPr>
              <a:t>Under the Guidance of</a:t>
            </a:r>
            <a:br>
              <a:rPr lang="en-US" sz="2800" b="1" dirty="0">
                <a:solidFill>
                  <a:srgbClr val="002060"/>
                </a:solidFill>
                <a:latin typeface="Times New Roman" pitchFamily="18" charset="0"/>
                <a:cs typeface="Times New Roman" pitchFamily="18" charset="0"/>
              </a:rPr>
            </a:br>
            <a:r>
              <a:rPr lang="en-US" sz="2800" b="1" dirty="0" err="1">
                <a:solidFill>
                  <a:schemeClr val="tx1"/>
                </a:solidFill>
                <a:latin typeface="Times New Roman" pitchFamily="18" charset="0"/>
                <a:cs typeface="Times New Roman" pitchFamily="18" charset="0"/>
              </a:rPr>
              <a:t>N.Subramanyam</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M.Tech</a:t>
            </a:r>
            <a:br>
              <a:rPr lang="en-US" sz="2800" b="1" dirty="0">
                <a:solidFill>
                  <a:schemeClr val="tx1"/>
                </a:solidFill>
                <a:latin typeface="Times New Roman" pitchFamily="18" charset="0"/>
                <a:cs typeface="Times New Roman" pitchFamily="18" charset="0"/>
              </a:rPr>
            </a:br>
            <a:r>
              <a:rPr lang="en-US" sz="2000" b="1" dirty="0">
                <a:solidFill>
                  <a:schemeClr val="tx1"/>
                </a:solidFill>
                <a:latin typeface="Times New Roman" pitchFamily="18" charset="0"/>
                <a:cs typeface="Times New Roman" pitchFamily="18" charset="0"/>
              </a:rPr>
              <a:t>Assistant Professor, Dept. of  AI&amp;DS</a:t>
            </a:r>
            <a:br>
              <a:rPr lang="en-US" sz="2800" b="1" dirty="0">
                <a:solidFill>
                  <a:schemeClr val="tx1"/>
                </a:solidFill>
                <a:latin typeface="Times New Roman" pitchFamily="18" charset="0"/>
                <a:cs typeface="Times New Roman" pitchFamily="18" charset="0"/>
              </a:rPr>
            </a:br>
            <a:br>
              <a:rPr lang="en-US" sz="2800" b="1" dirty="0">
                <a:solidFill>
                  <a:srgbClr val="002060"/>
                </a:solidFill>
                <a:latin typeface="Times New Roman" pitchFamily="18" charset="0"/>
                <a:cs typeface="Times New Roman" pitchFamily="18" charset="0"/>
              </a:rPr>
            </a:br>
            <a:endParaRPr lang="en-US" sz="2800" b="1" dirty="0">
              <a:solidFill>
                <a:srgbClr val="002060"/>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1058C2AA-AA07-4B13-6E6C-FA3A1B5324D2}"/>
              </a:ext>
            </a:extLst>
          </p:cNvPr>
          <p:cNvSpPr txBox="1"/>
          <p:nvPr/>
        </p:nvSpPr>
        <p:spPr>
          <a:xfrm>
            <a:off x="3779912" y="4293096"/>
            <a:ext cx="5212128" cy="2099036"/>
          </a:xfrm>
          <a:prstGeom prst="rect">
            <a:avLst/>
          </a:prstGeom>
          <a:noFill/>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000" b="0"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Presented</a:t>
            </a:r>
            <a:r>
              <a:rPr kumimoji="0" lang="en-US" sz="4000" b="0" i="0" u="none" strike="noStrike" kern="1200" cap="none" spc="0" normalizeH="0" noProof="0" dirty="0">
                <a:ln>
                  <a:noFill/>
                </a:ln>
                <a:solidFill>
                  <a:srgbClr val="0070C0"/>
                </a:solidFill>
                <a:effectLst/>
                <a:uLnTx/>
                <a:uFillTx/>
                <a:latin typeface="Times New Roman" panose="02020603050405020304" pitchFamily="18" charset="0"/>
                <a:cs typeface="Times New Roman" panose="02020603050405020304" pitchFamily="18" charset="0"/>
              </a:rPr>
              <a:t> By</a:t>
            </a:r>
          </a:p>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lang="en-US" sz="900" b="1" dirty="0">
                <a:solidFill>
                  <a:srgbClr val="002060"/>
                </a:solidFill>
                <a:latin typeface="Times New Roman" pitchFamily="18" charset="0"/>
                <a:cs typeface="Times New Roman" pitchFamily="18" charset="0"/>
              </a:rPr>
              <a:t>   </a:t>
            </a:r>
            <a:r>
              <a:rPr lang="en-US" sz="1800" b="1" dirty="0">
                <a:latin typeface="Times New Roman" pitchFamily="18" charset="0"/>
                <a:cs typeface="Times New Roman" pitchFamily="18" charset="0"/>
              </a:rPr>
              <a:t>S. Charan Kumar Reddy(202H1A3038)</a:t>
            </a:r>
          </a:p>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b="1" i="0" u="none" strike="noStrike" kern="1200" cap="none" spc="0" normalizeH="0" baseline="0" noProof="0" dirty="0">
                <a:ln>
                  <a:noFill/>
                </a:ln>
                <a:effectLst/>
                <a:uLnTx/>
                <a:uFillTx/>
                <a:latin typeface="Times New Roman" pitchFamily="18" charset="0"/>
                <a:ea typeface="+mn-ea"/>
                <a:cs typeface="Times New Roman" pitchFamily="18" charset="0"/>
              </a:rPr>
              <a:t>                       </a:t>
            </a:r>
            <a:r>
              <a:rPr lang="en-US" sz="1800" b="1" dirty="0">
                <a:latin typeface="Times New Roman" pitchFamily="18" charset="0"/>
                <a:cs typeface="Times New Roman" pitchFamily="18" charset="0"/>
              </a:rPr>
              <a:t>K</a:t>
            </a:r>
            <a:r>
              <a:rPr kumimoji="0" lang="en-US" sz="1800" b="1" i="0" u="none" strike="noStrike" kern="1200" cap="none" spc="0" normalizeH="0" baseline="0" noProof="0" dirty="0">
                <a:ln>
                  <a:noFill/>
                </a:ln>
                <a:effectLst/>
                <a:uLnTx/>
                <a:uFillTx/>
                <a:latin typeface="Times New Roman" pitchFamily="18" charset="0"/>
                <a:ea typeface="+mn-ea"/>
                <a:cs typeface="Times New Roman" pitchFamily="18" charset="0"/>
              </a:rPr>
              <a:t>.Harshitha</a:t>
            </a:r>
            <a:r>
              <a:rPr lang="en-US" sz="1800" b="1" dirty="0">
                <a:latin typeface="Times New Roman" pitchFamily="18" charset="0"/>
                <a:cs typeface="Times New Roman" pitchFamily="18" charset="0"/>
              </a:rPr>
              <a:t>(202H1A3016</a:t>
            </a:r>
            <a:r>
              <a:rPr kumimoji="0" lang="en-US" sz="1800" b="1" i="0" u="none" strike="noStrike" kern="1200" cap="none" spc="0" normalizeH="0" baseline="0" noProof="0" dirty="0">
                <a:ln>
                  <a:noFill/>
                </a:ln>
                <a:effectLst/>
                <a:uLnTx/>
                <a:uFillTx/>
                <a:latin typeface="Times New Roman" pitchFamily="18" charset="0"/>
                <a:ea typeface="+mn-ea"/>
                <a:cs typeface="Times New Roman" pitchFamily="18" charset="0"/>
              </a:rPr>
              <a:t>)</a:t>
            </a:r>
          </a:p>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lang="en-US" sz="1800" b="1" dirty="0">
                <a:latin typeface="Times New Roman" pitchFamily="18" charset="0"/>
                <a:cs typeface="Times New Roman" pitchFamily="18" charset="0"/>
              </a:rPr>
              <a:t>P. Venkata Krishna Anand Reddy(202H1A3026)</a:t>
            </a:r>
          </a:p>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lang="en-US" sz="1800" b="1" dirty="0">
                <a:latin typeface="Times New Roman" pitchFamily="18" charset="0"/>
                <a:cs typeface="Times New Roman" pitchFamily="18" charset="0"/>
              </a:rPr>
              <a:t>               </a:t>
            </a:r>
            <a:r>
              <a:rPr lang="en-US" sz="1800" b="1" dirty="0" err="1">
                <a:latin typeface="Times New Roman" pitchFamily="18" charset="0"/>
                <a:cs typeface="Times New Roman" pitchFamily="18" charset="0"/>
              </a:rPr>
              <a:t>P.Tejaswar</a:t>
            </a:r>
            <a:r>
              <a:rPr lang="en-US" sz="1800" b="1" dirty="0">
                <a:latin typeface="Times New Roman" pitchFamily="18" charset="0"/>
                <a:cs typeface="Times New Roman" pitchFamily="18" charset="0"/>
              </a:rPr>
              <a:t> Reddy(202H1A3031)</a:t>
            </a:r>
            <a:endParaRPr kumimoji="0" lang="en-US" sz="1800" b="1" i="0" u="none" strike="noStrike" kern="1200" cap="none" spc="0" normalizeH="0" baseline="0" noProof="0" dirty="0">
              <a:ln>
                <a:noFill/>
              </a:ln>
              <a:effectLst/>
              <a:uLnTx/>
              <a:uFillTx/>
              <a:latin typeface="Times New Roman" pitchFamily="18" charset="0"/>
              <a:ea typeface="+mn-ea"/>
              <a:cs typeface="Times New Roman" pitchFamily="18" charset="0"/>
            </a:endParaRPr>
          </a:p>
        </p:txBody>
      </p:sp>
      <p:pic>
        <p:nvPicPr>
          <p:cNvPr id="8" name="Picture 7">
            <a:extLst>
              <a:ext uri="{FF2B5EF4-FFF2-40B4-BE49-F238E27FC236}">
                <a16:creationId xmlns:a16="http://schemas.microsoft.com/office/drawing/2014/main" id="{89265733-B35F-254F-7215-50AD8EA3ECD4}"/>
              </a:ext>
            </a:extLst>
          </p:cNvPr>
          <p:cNvPicPr>
            <a:picLocks noChangeAspect="1"/>
          </p:cNvPicPr>
          <p:nvPr/>
        </p:nvPicPr>
        <p:blipFill>
          <a:blip r:embed="rId2"/>
          <a:stretch>
            <a:fillRect/>
          </a:stretch>
        </p:blipFill>
        <p:spPr>
          <a:xfrm>
            <a:off x="107504" y="296652"/>
            <a:ext cx="1224136" cy="1029274"/>
          </a:xfrm>
          <a:prstGeom prst="rect">
            <a:avLst/>
          </a:prstGeom>
        </p:spPr>
      </p:pic>
    </p:spTree>
    <p:extLst>
      <p:ext uri="{BB962C8B-B14F-4D97-AF65-F5344CB8AC3E}">
        <p14:creationId xmlns:p14="http://schemas.microsoft.com/office/powerpoint/2010/main" val="4017668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
            <a:ext cx="8229600" cy="1143000"/>
          </a:xfrm>
        </p:spPr>
        <p:txBody>
          <a:bodyPr>
            <a:normAutofit/>
          </a:bodyPr>
          <a:lstStyle/>
          <a:p>
            <a:r>
              <a:rPr lang="en-US" sz="3200" dirty="0">
                <a:latin typeface="Times New Roman" panose="02020603050405020304" pitchFamily="18" charset="0"/>
                <a:cs typeface="Times New Roman" panose="02020603050405020304" pitchFamily="18" charset="0"/>
              </a:rPr>
              <a:t>INTRODUCTION</a:t>
            </a:r>
          </a:p>
        </p:txBody>
      </p:sp>
      <p:sp>
        <p:nvSpPr>
          <p:cNvPr id="3" name="Subtitle 2"/>
          <p:cNvSpPr>
            <a:spLocks noGrp="1"/>
          </p:cNvSpPr>
          <p:nvPr>
            <p:ph idx="1"/>
          </p:nvPr>
        </p:nvSpPr>
        <p:spPr>
          <a:xfrm>
            <a:off x="457200" y="1000108"/>
            <a:ext cx="8229600" cy="4954591"/>
          </a:xfrm>
        </p:spPr>
        <p:txBody>
          <a:bodyPr>
            <a:normAutofit lnSpcReduction="10000"/>
          </a:bodyPr>
          <a:lstStyle/>
          <a:p>
            <a:pPr algn="just">
              <a:lnSpc>
                <a:spcPct val="150000"/>
              </a:lnSpc>
            </a:pP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R</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ainfall prediction is a crucial aspect of weather forecasting, with implications ranging from agriculture to disaster preparedness. traditional methods rely on historical data and meteorological models, which can sometimes be limited in accuracy or scalability. machine learning (ml) offers a promising alternative by leveraging the power of data to make accurate predictions</a:t>
            </a:r>
            <a:r>
              <a:rPr lang="en-US" sz="1600" b="0" i="0" cap="none" dirty="0">
                <a:solidFill>
                  <a:srgbClr val="0D0D0D"/>
                </a:solidFill>
                <a:effectLst/>
                <a:latin typeface="Times New Roman" panose="02020603050405020304" pitchFamily="18" charset="0"/>
                <a:cs typeface="Times New Roman" panose="02020603050405020304" pitchFamily="18" charset="0"/>
              </a:rPr>
              <a:t>.</a:t>
            </a:r>
          </a:p>
          <a:p>
            <a:pPr algn="just">
              <a:lnSpc>
                <a:spcPct val="150000"/>
              </a:lnSpc>
            </a:pPr>
            <a:r>
              <a:rPr lang="en-US" sz="1600" cap="none" dirty="0">
                <a:latin typeface="Times New Roman" panose="02020603050405020304" pitchFamily="18" charset="0"/>
                <a:ea typeface="Calibri" panose="020F0502020204030204" pitchFamily="34" charset="0"/>
                <a:cs typeface="Times New Roman" panose="02020603050405020304" pitchFamily="18" charset="0"/>
              </a:rPr>
              <a:t>Rainfall prediction is one of the most challenging tasks. though already many algorithms have being proposed but still accurate prediction of rainfall is very difficult. in an agricultural country like </a:t>
            </a:r>
            <a:r>
              <a:rPr lang="en-US" sz="1600" cap="none" dirty="0" err="1">
                <a:latin typeface="Times New Roman" panose="02020603050405020304" pitchFamily="18" charset="0"/>
                <a:ea typeface="Calibri" panose="020F0502020204030204" pitchFamily="34" charset="0"/>
                <a:cs typeface="Times New Roman" panose="02020603050405020304" pitchFamily="18" charset="0"/>
              </a:rPr>
              <a:t>india</a:t>
            </a:r>
            <a:r>
              <a:rPr lang="en-US" sz="1600" cap="none" dirty="0">
                <a:latin typeface="Times New Roman" panose="02020603050405020304" pitchFamily="18" charset="0"/>
                <a:ea typeface="Calibri" panose="020F0502020204030204" pitchFamily="34" charset="0"/>
                <a:cs typeface="Times New Roman" panose="02020603050405020304" pitchFamily="18" charset="0"/>
              </a:rPr>
              <a:t>, the success or failure of the crops and water scarcity in any year is always viewed with greatest concern. a small fluctuation in the seasonal rainfall can have devastating impacts on agriculture sector.</a:t>
            </a:r>
          </a:p>
          <a:p>
            <a:pPr algn="just">
              <a:lnSpc>
                <a:spcPct val="150000"/>
              </a:lnSpc>
            </a:pPr>
            <a:r>
              <a:rPr lang="en-US" sz="1600" cap="none" dirty="0">
                <a:latin typeface="Times New Roman" panose="02020603050405020304" pitchFamily="18" charset="0"/>
                <a:ea typeface="Calibri" panose="020F0502020204030204" pitchFamily="34" charset="0"/>
                <a:cs typeface="Times New Roman" panose="02020603050405020304" pitchFamily="18" charset="0"/>
              </a:rPr>
              <a:t>Accurate rainfall prediction has a potential benefit of preventing causalities and damages caused by natural disasters. under certain circumstances such as flood and drought, highly accurate rainfall prediction is useful for agriculture management and disaster prevention.</a:t>
            </a:r>
          </a:p>
          <a:p>
            <a:pPr algn="just">
              <a:lnSpc>
                <a:spcPct val="150000"/>
              </a:lnSpc>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0" indent="0" algn="just">
              <a:lnSpc>
                <a:spcPct val="150000"/>
              </a:lnSpc>
              <a:buNone/>
            </a:pP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650A9-C897-6069-A87A-515D0AF0BB38}"/>
              </a:ext>
            </a:extLst>
          </p:cNvPr>
          <p:cNvSpPr>
            <a:spLocks noGrp="1"/>
          </p:cNvSpPr>
          <p:nvPr>
            <p:ph type="title"/>
          </p:nvPr>
        </p:nvSpPr>
        <p:spPr>
          <a:xfrm>
            <a:off x="323528" y="116632"/>
            <a:ext cx="8301608" cy="1143000"/>
          </a:xfrm>
        </p:spPr>
        <p:txBody>
          <a:bodyPr>
            <a:normAutofit/>
          </a:bodyPr>
          <a:lstStyle/>
          <a:p>
            <a:r>
              <a:rPr lang="en-US" sz="3200" dirty="0">
                <a:latin typeface="Times New Roman" panose="02020603050405020304" pitchFamily="18" charset="0"/>
                <a:cs typeface="Times New Roman" panose="02020603050405020304" pitchFamily="18" charset="0"/>
              </a:rPr>
              <a:t>ABSTRACT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F3A563-9B25-18F4-9872-1C23B5F24A9C}"/>
              </a:ext>
            </a:extLst>
          </p:cNvPr>
          <p:cNvSpPr>
            <a:spLocks noGrp="1"/>
          </p:cNvSpPr>
          <p:nvPr>
            <p:ph idx="1"/>
          </p:nvPr>
        </p:nvSpPr>
        <p:spPr>
          <a:xfrm>
            <a:off x="518864" y="1259632"/>
            <a:ext cx="8229600" cy="4389120"/>
          </a:xfrm>
        </p:spPr>
        <p:txBody>
          <a:bodyPr>
            <a:normAutofit fontScale="92500"/>
          </a:bodyPr>
          <a:lstStyle/>
          <a:p>
            <a:pPr algn="just">
              <a:lnSpc>
                <a:spcPct val="150000"/>
              </a:lnSpc>
            </a:pPr>
            <a:r>
              <a:rPr lang="en-US" sz="17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R</a:t>
            </a:r>
            <a:r>
              <a:rPr lang="en-US" sz="17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ainfall prediction is a critical aspect of weather forecasting with numerous practical applications. traditional methods often rely on historical data and meteorological models, which may have limitations in accuracy and scalability. in this study, we explore the application of machine learning (ml) classification algorithms for predicting rainfall.</a:t>
            </a:r>
          </a:p>
          <a:p>
            <a:pPr algn="just">
              <a:lnSpc>
                <a:spcPct val="150000"/>
              </a:lnSpc>
            </a:pPr>
            <a:r>
              <a:rPr lang="en-US" sz="17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W</a:t>
            </a:r>
            <a:r>
              <a:rPr lang="en-US" sz="17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e utilize a dataset containing various weather-related features such as temperature, humidity, wind speed, and atmospheric pressure, collected over a period of time. the dataset also includes a binary target variable indicating whether it rained the following day.</a:t>
            </a:r>
          </a:p>
          <a:p>
            <a:pPr algn="just">
              <a:lnSpc>
                <a:spcPct val="150000"/>
              </a:lnSpc>
            </a:pPr>
            <a:r>
              <a:rPr lang="en-US" sz="17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O</a:t>
            </a:r>
            <a:r>
              <a:rPr lang="en-US" sz="17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ur approach involves a typical ml pipeline, including data preprocessing, feature selection, model selection, and evaluation. we experiment with several classification algorithms, including logistic regression, decision trees, random forests, and gradient boosting, to identify the most suitable model for the task.</a:t>
            </a:r>
          </a:p>
          <a:p>
            <a:pPr marL="0" indent="0" algn="just">
              <a:buNone/>
            </a:pP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1063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9E80B-B864-9B48-4935-2426A9009297}"/>
              </a:ext>
            </a:extLst>
          </p:cNvPr>
          <p:cNvSpPr>
            <a:spLocks noGrp="1"/>
          </p:cNvSpPr>
          <p:nvPr>
            <p:ph type="title"/>
          </p:nvPr>
        </p:nvSpPr>
        <p:spPr>
          <a:xfrm>
            <a:off x="395536" y="136525"/>
            <a:ext cx="8229600" cy="1143000"/>
          </a:xfrm>
        </p:spPr>
        <p:txBody>
          <a:bodyPr>
            <a:normAutofit/>
          </a:bodyPr>
          <a:lstStyle/>
          <a:p>
            <a:r>
              <a:rPr lang="en-US" sz="3200" dirty="0">
                <a:latin typeface="Times New Roman" panose="02020603050405020304" pitchFamily="18" charset="0"/>
                <a:cs typeface="Times New Roman" panose="02020603050405020304" pitchFamily="18" charset="0"/>
              </a:rPr>
              <a:t>PROBLEM STATEMENT</a:t>
            </a:r>
            <a:endParaRPr lang="en-IN" sz="3200"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1D7F7E56-2F9A-B0E0-5D8A-7F39E20D380F}"/>
              </a:ext>
            </a:extLst>
          </p:cNvPr>
          <p:cNvSpPr>
            <a:spLocks noGrp="1"/>
          </p:cNvSpPr>
          <p:nvPr>
            <p:ph idx="1"/>
          </p:nvPr>
        </p:nvSpPr>
        <p:spPr>
          <a:xfrm>
            <a:off x="282352" y="1234440"/>
            <a:ext cx="8579296" cy="4389120"/>
          </a:xfrm>
        </p:spPr>
        <p:txBody>
          <a:bodyPr>
            <a:normAutofit/>
          </a:bodyPr>
          <a:lstStyle/>
          <a:p>
            <a:pPr algn="just">
              <a:lnSpc>
                <a:spcPct val="150000"/>
              </a:lnSpc>
            </a:pP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T</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he goal of this study is to develop a machine learning (ml) classification model that can predict whether it will rain tomorrow in a given location. this binary classification task is challenging due to the complex &amp; dynamic nature of weather patterns.</a:t>
            </a:r>
          </a:p>
          <a:p>
            <a:pPr algn="just">
              <a:lnSpc>
                <a:spcPct val="150000"/>
              </a:lnSpc>
            </a:pP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B</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y leveraging a dataset containing various weather-related features such as temperature, humidity, wind speed, and atmospheric pressure, collected over time, we aim to train an ml model that can accurately predict rainfall.</a:t>
            </a:r>
          </a:p>
          <a:p>
            <a:pPr algn="just">
              <a:lnSpc>
                <a:spcPct val="150000"/>
              </a:lnSpc>
            </a:pP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T</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he successful development of a rain prediction model could significantly improve the accuracy and reliability of weather forecasts, leading to more effective decision-making in various sectors reliant on weather information.</a:t>
            </a:r>
            <a:endParaRPr lang="en-IN" sz="1600" cap="none"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1336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B6EFF-5400-C927-E22A-9C52AFC5D23D}"/>
              </a:ext>
            </a:extLst>
          </p:cNvPr>
          <p:cNvSpPr>
            <a:spLocks noGrp="1"/>
          </p:cNvSpPr>
          <p:nvPr>
            <p:ph type="title"/>
          </p:nvPr>
        </p:nvSpPr>
        <p:spPr>
          <a:xfrm>
            <a:off x="323528" y="209788"/>
            <a:ext cx="8229600" cy="1143000"/>
          </a:xfrm>
        </p:spPr>
        <p:txBody>
          <a:bodyPr>
            <a:normAutofit/>
          </a:bodyPr>
          <a:lstStyle/>
          <a:p>
            <a:r>
              <a:rPr lang="en-IN" sz="3200"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7A099B47-A957-7BA9-7A3C-3F5FB3FB58D5}"/>
              </a:ext>
            </a:extLst>
          </p:cNvPr>
          <p:cNvSpPr>
            <a:spLocks noGrp="1"/>
          </p:cNvSpPr>
          <p:nvPr>
            <p:ph idx="1"/>
          </p:nvPr>
        </p:nvSpPr>
        <p:spPr>
          <a:xfrm>
            <a:off x="452399" y="1412776"/>
            <a:ext cx="8229600" cy="4389120"/>
          </a:xfrm>
        </p:spPr>
        <p:txBody>
          <a:bodyPr>
            <a:normAutofit/>
          </a:bodyPr>
          <a:lstStyle/>
          <a:p>
            <a:pPr algn="just">
              <a:lnSpc>
                <a:spcPct val="150000"/>
              </a:lnSpc>
            </a:pPr>
            <a:r>
              <a:rPr lang="en-US" sz="1600" cap="none" dirty="0">
                <a:latin typeface="Times New Roman" panose="02020603050405020304" pitchFamily="18" charset="0"/>
                <a:ea typeface="Calibri" panose="020F0502020204030204" pitchFamily="34" charset="0"/>
                <a:cs typeface="Times New Roman" panose="02020603050405020304" pitchFamily="18" charset="0"/>
              </a:rPr>
              <a:t>Agriculture is the strength of our </a:t>
            </a:r>
            <a:r>
              <a:rPr lang="en-US" sz="1600" cap="none" dirty="0" err="1">
                <a:latin typeface="Times New Roman" panose="02020603050405020304" pitchFamily="18" charset="0"/>
                <a:ea typeface="Calibri" panose="020F0502020204030204" pitchFamily="34" charset="0"/>
                <a:cs typeface="Times New Roman" panose="02020603050405020304" pitchFamily="18" charset="0"/>
              </a:rPr>
              <a:t>indian</a:t>
            </a:r>
            <a:r>
              <a:rPr lang="en-US" sz="1600" cap="none" dirty="0">
                <a:latin typeface="Times New Roman" panose="02020603050405020304" pitchFamily="18" charset="0"/>
                <a:ea typeface="Calibri" panose="020F0502020204030204" pitchFamily="34" charset="0"/>
                <a:cs typeface="Times New Roman" panose="02020603050405020304" pitchFamily="18" charset="0"/>
              </a:rPr>
              <a:t> economy. farmer only depends upon monsoon to be their cultivation. the good crop productivity needs good soil, fertilizer and also good climate. weather forecasting is the very important requirement of the each farmer.</a:t>
            </a:r>
          </a:p>
          <a:p>
            <a:pPr algn="just">
              <a:lnSpc>
                <a:spcPct val="150000"/>
              </a:lnSpc>
            </a:pPr>
            <a:r>
              <a:rPr lang="en-US" sz="1600" cap="none" dirty="0">
                <a:latin typeface="Times New Roman" panose="02020603050405020304" pitchFamily="18" charset="0"/>
                <a:ea typeface="Calibri" panose="020F0502020204030204" pitchFamily="34" charset="0"/>
                <a:cs typeface="Times New Roman" panose="02020603050405020304" pitchFamily="18" charset="0"/>
              </a:rPr>
              <a:t>Due to the sudden changes in climate/weather, the people are suffered economically and physically. weather prediction is one of the challenging problems in current state. the main motivation of this paper to predict the weather using various data mining techniques.</a:t>
            </a:r>
          </a:p>
          <a:p>
            <a:pPr algn="just">
              <a:lnSpc>
                <a:spcPct val="150000"/>
              </a:lnSpc>
            </a:pPr>
            <a:r>
              <a:rPr lang="en-US" sz="1600" cap="none" dirty="0">
                <a:latin typeface="Times New Roman" panose="02020603050405020304" pitchFamily="18" charset="0"/>
                <a:ea typeface="Calibri" panose="020F0502020204030204" pitchFamily="34" charset="0"/>
                <a:cs typeface="Times New Roman" panose="02020603050405020304" pitchFamily="18" charset="0"/>
              </a:rPr>
              <a:t>Such as classification, clustering, decision tree and also neural networks. weather related information is also called the meteorological data. in this paper the most commonly used weather parameters are rainfall, wind speed, temperature and cold.</a:t>
            </a:r>
            <a:endParaRPr lang="en-IN" sz="1600" cap="none"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39002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1E6F-D7E2-0DD4-94DA-662D710124CB}"/>
              </a:ext>
            </a:extLst>
          </p:cNvPr>
          <p:cNvSpPr>
            <a:spLocks noGrp="1"/>
          </p:cNvSpPr>
          <p:nvPr>
            <p:ph type="title"/>
          </p:nvPr>
        </p:nvSpPr>
        <p:spPr>
          <a:xfrm>
            <a:off x="251520" y="240344"/>
            <a:ext cx="8229600" cy="1143000"/>
          </a:xfrm>
        </p:spPr>
        <p:txBody>
          <a:bodyPr>
            <a:normAutofit/>
          </a:bodyPr>
          <a:lstStyle/>
          <a:p>
            <a:r>
              <a:rPr lang="en-US" sz="3200" dirty="0">
                <a:latin typeface="Times New Roman" panose="02020603050405020304" pitchFamily="18" charset="0"/>
                <a:cs typeface="Times New Roman" panose="02020603050405020304" pitchFamily="18" charset="0"/>
              </a:rPr>
              <a:t>DRAWBACKS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37D83B-66FA-5F56-A389-5BD28CAF6602}"/>
              </a:ext>
            </a:extLst>
          </p:cNvPr>
          <p:cNvSpPr>
            <a:spLocks noGrp="1"/>
          </p:cNvSpPr>
          <p:nvPr>
            <p:ph idx="1"/>
          </p:nvPr>
        </p:nvSpPr>
        <p:spPr>
          <a:xfrm>
            <a:off x="323528" y="1484784"/>
            <a:ext cx="8229600" cy="4389120"/>
          </a:xfrm>
        </p:spPr>
        <p:txBody>
          <a:bodyPr/>
          <a:lstStyle/>
          <a:p>
            <a:pPr algn="just">
              <a:lnSpc>
                <a:spcPct val="150000"/>
              </a:lnSpc>
              <a:buFont typeface="Arial" panose="020B0604020202020204" pitchFamily="34" charset="0"/>
              <a:buChar char="•"/>
            </a:pPr>
            <a:r>
              <a:rPr lang="en-US" sz="16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Data requirements:</a:t>
            </a:r>
            <a:r>
              <a:rPr lang="en-US" sz="16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M</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achine learning models require large amounts of data for training, which may be challenging to obtain for some regions.</a:t>
            </a:r>
          </a:p>
          <a:p>
            <a:pPr algn="just">
              <a:lnSpc>
                <a:spcPct val="150000"/>
              </a:lnSpc>
              <a:buFont typeface="Arial" panose="020B0604020202020204" pitchFamily="34" charset="0"/>
              <a:buChar char="•"/>
            </a:pPr>
            <a:r>
              <a:rPr lang="en-US" sz="16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Interpretability:</a:t>
            </a:r>
            <a:r>
              <a:rPr lang="en-US" sz="16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S</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ome machine learning models, such as deep learning models, may lack interpretability, making it challenging to understand how they make predictions.</a:t>
            </a:r>
          </a:p>
          <a:p>
            <a:pPr algn="just">
              <a:lnSpc>
                <a:spcPct val="150000"/>
              </a:lnSpc>
              <a:buFont typeface="Arial" panose="020B0604020202020204" pitchFamily="34" charset="0"/>
              <a:buChar char="•"/>
            </a:pPr>
            <a:r>
              <a:rPr lang="en-US" sz="16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Overfitting:</a:t>
            </a:r>
            <a:r>
              <a:rPr lang="en-US" sz="16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W</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ithout proper regularization and validation techniques, machine learning models may overfit to the training data, leading to poor generalization</a:t>
            </a:r>
            <a:r>
              <a:rPr lang="en-US" sz="1600" b="0" i="0" cap="none" dirty="0">
                <a:solidFill>
                  <a:srgbClr val="0D0D0D"/>
                </a:solidFill>
                <a:effectLst/>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1115170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9C171-0547-EFCC-A762-12A85512B3D7}"/>
              </a:ext>
            </a:extLst>
          </p:cNvPr>
          <p:cNvSpPr>
            <a:spLocks noGrp="1"/>
          </p:cNvSpPr>
          <p:nvPr>
            <p:ph type="title"/>
          </p:nvPr>
        </p:nvSpPr>
        <p:spPr>
          <a:xfrm>
            <a:off x="251520" y="230425"/>
            <a:ext cx="8229600" cy="1143000"/>
          </a:xfrm>
        </p:spPr>
        <p:txBody>
          <a:bodyPr>
            <a:normAutofit/>
          </a:bodyPr>
          <a:lstStyle/>
          <a:p>
            <a:r>
              <a:rPr lang="en-IN" sz="3200"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4AD2081B-3A1F-7486-354A-AA6DF4B1403C}"/>
              </a:ext>
            </a:extLst>
          </p:cNvPr>
          <p:cNvSpPr>
            <a:spLocks noGrp="1"/>
          </p:cNvSpPr>
          <p:nvPr>
            <p:ph idx="1"/>
          </p:nvPr>
        </p:nvSpPr>
        <p:spPr>
          <a:xfrm>
            <a:off x="251520" y="980728"/>
            <a:ext cx="8229600" cy="4389120"/>
          </a:xfrm>
        </p:spPr>
        <p:txBody>
          <a:bodyPr>
            <a:normAutofit fontScale="25000" lnSpcReduction="20000"/>
          </a:bodyPr>
          <a:lstStyle/>
          <a:p>
            <a:pPr algn="just">
              <a:lnSpc>
                <a:spcPct val="170000"/>
              </a:lnSpc>
            </a:pPr>
            <a:r>
              <a:rPr lang="en-US" sz="6400" cap="none" dirty="0">
                <a:latin typeface="Times New Roman" panose="02020603050405020304" pitchFamily="18" charset="0"/>
                <a:ea typeface="Calibri" panose="020F0502020204030204" pitchFamily="34" charset="0"/>
                <a:cs typeface="Times New Roman" panose="02020603050405020304" pitchFamily="18" charset="0"/>
              </a:rPr>
              <a:t>Rainfall is important for food production plan, water resource management and all activity plans in the nature. the occurrence of prolonged dry period or heavy rain at the critical stages of the crop growth and development may lead to significant reduce crop yield. </a:t>
            </a:r>
            <a:r>
              <a:rPr lang="en-US" sz="6400" cap="none" dirty="0" err="1">
                <a:latin typeface="Times New Roman" panose="02020603050405020304" pitchFamily="18" charset="0"/>
                <a:ea typeface="Calibri" panose="020F0502020204030204" pitchFamily="34" charset="0"/>
                <a:cs typeface="Times New Roman" panose="02020603050405020304" pitchFamily="18" charset="0"/>
              </a:rPr>
              <a:t>india</a:t>
            </a:r>
            <a:r>
              <a:rPr lang="en-US" sz="6400" cap="none" dirty="0">
                <a:latin typeface="Times New Roman" panose="02020603050405020304" pitchFamily="18" charset="0"/>
                <a:ea typeface="Calibri" panose="020F0502020204030204" pitchFamily="34" charset="0"/>
                <a:cs typeface="Times New Roman" panose="02020603050405020304" pitchFamily="18" charset="0"/>
              </a:rPr>
              <a:t> is an agricultural country and its economy is largely based upon crop productivity. thus rainfall prediction becomes a significant factor in agricultural countries like </a:t>
            </a:r>
            <a:r>
              <a:rPr lang="en-US" sz="6400" cap="none" dirty="0" err="1">
                <a:latin typeface="Times New Roman" panose="02020603050405020304" pitchFamily="18" charset="0"/>
                <a:ea typeface="Calibri" panose="020F0502020204030204" pitchFamily="34" charset="0"/>
                <a:cs typeface="Times New Roman" panose="02020603050405020304" pitchFamily="18" charset="0"/>
              </a:rPr>
              <a:t>india</a:t>
            </a:r>
            <a:r>
              <a:rPr lang="en-US" sz="6400" cap="none" dirty="0">
                <a:latin typeface="Times New Roman" panose="02020603050405020304" pitchFamily="18" charset="0"/>
                <a:ea typeface="Calibri" panose="020F0502020204030204" pitchFamily="34" charset="0"/>
                <a:cs typeface="Times New Roman" panose="02020603050405020304" pitchFamily="18" charset="0"/>
              </a:rPr>
              <a:t>. rainfall forecasting has been one of the most scientifically and technologically challenging problems around the world in the last century. </a:t>
            </a:r>
          </a:p>
          <a:p>
            <a:pPr marL="0" indent="0" algn="just">
              <a:lnSpc>
                <a:spcPct val="170000"/>
              </a:lnSpc>
              <a:buNone/>
            </a:pPr>
            <a:r>
              <a:rPr lang="en-US" sz="6400" b="1" dirty="0">
                <a:latin typeface="Times New Roman" panose="02020603050405020304" pitchFamily="18" charset="0"/>
                <a:ea typeface="Calibri" panose="020F0502020204030204" pitchFamily="34" charset="0"/>
                <a:cs typeface="Times New Roman" panose="02020603050405020304" pitchFamily="18" charset="0"/>
              </a:rPr>
              <a:t>Advantages</a:t>
            </a:r>
          </a:p>
          <a:p>
            <a:pPr algn="l">
              <a:lnSpc>
                <a:spcPct val="170000"/>
              </a:lnSpc>
              <a:buFont typeface="Arial" panose="020B0604020202020204" pitchFamily="34" charset="0"/>
              <a:buChar char="•"/>
            </a:pPr>
            <a:r>
              <a:rPr lang="en-US" sz="64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I</a:t>
            </a:r>
            <a:r>
              <a:rPr lang="en-US" sz="64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mproved accuracy: By leveraging machine learning algorithms, the proposed system can provide more accurate rainfall predictions compared to traditional methods.</a:t>
            </a:r>
          </a:p>
          <a:p>
            <a:pPr algn="l">
              <a:lnSpc>
                <a:spcPct val="170000"/>
              </a:lnSpc>
              <a:buFont typeface="Arial" panose="020B0604020202020204" pitchFamily="34" charset="0"/>
              <a:buChar char="•"/>
            </a:pPr>
            <a:r>
              <a:rPr lang="en-US" sz="64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S</a:t>
            </a:r>
            <a:r>
              <a:rPr lang="en-US" sz="64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calability: The system can scale to large datasets and provide real-time predictions, making it suitable for various applications.</a:t>
            </a:r>
          </a:p>
          <a:p>
            <a:pPr algn="l">
              <a:lnSpc>
                <a:spcPct val="170000"/>
              </a:lnSpc>
              <a:buFont typeface="Arial" panose="020B0604020202020204" pitchFamily="34" charset="0"/>
              <a:buChar char="•"/>
            </a:pPr>
            <a:r>
              <a:rPr lang="en-US" sz="64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A</a:t>
            </a:r>
            <a:r>
              <a:rPr lang="en-US" sz="64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daptability: The system can adapt to changing weather patterns and incorporate new data to improve prediction accuracy over time.</a:t>
            </a:r>
          </a:p>
        </p:txBody>
      </p:sp>
    </p:spTree>
    <p:extLst>
      <p:ext uri="{BB962C8B-B14F-4D97-AF65-F5344CB8AC3E}">
        <p14:creationId xmlns:p14="http://schemas.microsoft.com/office/powerpoint/2010/main" val="2837105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62DE-A39E-C6F1-3A88-4FF8F8B1DDFD}"/>
              </a:ext>
            </a:extLst>
          </p:cNvPr>
          <p:cNvSpPr>
            <a:spLocks noGrp="1"/>
          </p:cNvSpPr>
          <p:nvPr>
            <p:ph type="title"/>
          </p:nvPr>
        </p:nvSpPr>
        <p:spPr>
          <a:xfrm>
            <a:off x="0" y="260648"/>
            <a:ext cx="6084168" cy="1440161"/>
          </a:xfrm>
        </p:spPr>
        <p:txBody>
          <a:bodyPr>
            <a:normAutofit/>
          </a:bodyPr>
          <a:lstStyle/>
          <a:p>
            <a:r>
              <a:rPr lang="en-US" sz="3200" dirty="0">
                <a:latin typeface="Times New Roman" panose="02020603050405020304" pitchFamily="18" charset="0"/>
                <a:cs typeface="Times New Roman" panose="02020603050405020304" pitchFamily="18" charset="0"/>
              </a:rPr>
              <a:t>SYSTEM REQUIREMENTS</a:t>
            </a:r>
            <a:endParaRPr lang="en-IN" sz="3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9D14710-8E8D-76C2-3091-D58A670EBDF2}"/>
              </a:ext>
            </a:extLst>
          </p:cNvPr>
          <p:cNvSpPr txBox="1"/>
          <p:nvPr/>
        </p:nvSpPr>
        <p:spPr>
          <a:xfrm>
            <a:off x="395536" y="1412776"/>
            <a:ext cx="5472608" cy="3046988"/>
          </a:xfrm>
          <a:prstGeom prst="rect">
            <a:avLst/>
          </a:prstGeom>
          <a:noFill/>
        </p:spPr>
        <p:txBody>
          <a:bodyPr wrap="square">
            <a:spAutoFit/>
          </a:bodyPr>
          <a:lstStyle/>
          <a:p>
            <a:pPr marL="571500" indent="-5715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Hardware Requirements</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Processor: Core I3/I5/I7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RAM : 4GB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HDD : 500 GB </a:t>
            </a:r>
          </a:p>
          <a:p>
            <a:pPr marL="571500" indent="-5715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Software Requirements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Platform : Windows </a:t>
            </a:r>
            <a:r>
              <a:rPr lang="en-IN" sz="2400" dirty="0" err="1">
                <a:latin typeface="Times New Roman" panose="02020603050405020304" pitchFamily="18" charset="0"/>
                <a:cs typeface="Times New Roman" panose="02020603050405020304" pitchFamily="18" charset="0"/>
              </a:rPr>
              <a:t>Xp</a:t>
            </a:r>
            <a:r>
              <a:rPr lang="en-IN" sz="2400" dirty="0">
                <a:latin typeface="Times New Roman" panose="02020603050405020304" pitchFamily="18" charset="0"/>
                <a:cs typeface="Times New Roman" panose="02020603050405020304" pitchFamily="18" charset="0"/>
              </a:rPr>
              <a:t>/7/8/10/11/12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Coding Language : Python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Complier: Jupiter</a:t>
            </a:r>
          </a:p>
        </p:txBody>
      </p:sp>
    </p:spTree>
    <p:extLst>
      <p:ext uri="{BB962C8B-B14F-4D97-AF65-F5344CB8AC3E}">
        <p14:creationId xmlns:p14="http://schemas.microsoft.com/office/powerpoint/2010/main" val="1448678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0527871-A0DE-2F7B-AEFF-C1BDC4C64B84}"/>
              </a:ext>
            </a:extLst>
          </p:cNvPr>
          <p:cNvSpPr>
            <a:spLocks noGrp="1"/>
          </p:cNvSpPr>
          <p:nvPr>
            <p:ph type="title"/>
          </p:nvPr>
        </p:nvSpPr>
        <p:spPr>
          <a:xfrm>
            <a:off x="431496" y="140852"/>
            <a:ext cx="8229600" cy="1143000"/>
          </a:xfrm>
        </p:spPr>
        <p:txBody>
          <a:bodyPr>
            <a:normAutofit/>
          </a:bodyPr>
          <a:lstStyle/>
          <a:p>
            <a:r>
              <a:rPr lang="en-US" sz="3200" dirty="0">
                <a:latin typeface="Times New Roman" panose="02020603050405020304" pitchFamily="18" charset="0"/>
                <a:cs typeface="Times New Roman" panose="02020603050405020304" pitchFamily="18" charset="0"/>
              </a:rPr>
              <a:t>SYSTEM ARCHITECTURE</a:t>
            </a:r>
            <a:endParaRPr lang="en-IN" sz="32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412EFA48-FE62-0344-9327-25B9A5BDBE56}"/>
              </a:ext>
            </a:extLst>
          </p:cNvPr>
          <p:cNvSpPr>
            <a:spLocks noGrp="1"/>
          </p:cNvSpPr>
          <p:nvPr>
            <p:ph type="sldNum" sz="quarter" idx="12"/>
          </p:nvPr>
        </p:nvSpPr>
        <p:spPr/>
        <p:txBody>
          <a:bodyPr/>
          <a:lstStyle/>
          <a:p>
            <a:fld id="{3FFE05F2-9AA5-451B-B6F4-72FBC3751DB5}" type="slidenum">
              <a:rPr lang="en-US" smtClean="0"/>
              <a:pPr/>
              <a:t>9</a:t>
            </a:fld>
            <a:endParaRPr lang="en-US"/>
          </a:p>
        </p:txBody>
      </p:sp>
      <p:pic>
        <p:nvPicPr>
          <p:cNvPr id="3" name="Picture 2">
            <a:extLst>
              <a:ext uri="{FF2B5EF4-FFF2-40B4-BE49-F238E27FC236}">
                <a16:creationId xmlns:a16="http://schemas.microsoft.com/office/drawing/2014/main" id="{22C2D3FA-ED15-F3D7-731F-18427970DF68}"/>
              </a:ext>
            </a:extLst>
          </p:cNvPr>
          <p:cNvPicPr>
            <a:picLocks noChangeAspect="1"/>
          </p:cNvPicPr>
          <p:nvPr/>
        </p:nvPicPr>
        <p:blipFill>
          <a:blip r:embed="rId2"/>
          <a:stretch>
            <a:fillRect/>
          </a:stretch>
        </p:blipFill>
        <p:spPr>
          <a:xfrm>
            <a:off x="2105025" y="1312314"/>
            <a:ext cx="4933950" cy="4953000"/>
          </a:xfrm>
          <a:prstGeom prst="rect">
            <a:avLst/>
          </a:prstGeom>
        </p:spPr>
      </p:pic>
    </p:spTree>
    <p:extLst>
      <p:ext uri="{BB962C8B-B14F-4D97-AF65-F5344CB8AC3E}">
        <p14:creationId xmlns:p14="http://schemas.microsoft.com/office/powerpoint/2010/main" val="3234153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EAB4-F888-CA61-64E3-BDCE0713954E}"/>
              </a:ext>
            </a:extLst>
          </p:cNvPr>
          <p:cNvSpPr>
            <a:spLocks noGrp="1"/>
          </p:cNvSpPr>
          <p:nvPr>
            <p:ph type="title"/>
          </p:nvPr>
        </p:nvSpPr>
        <p:spPr>
          <a:xfrm>
            <a:off x="457200" y="136525"/>
            <a:ext cx="8229600" cy="1143000"/>
          </a:xfrm>
        </p:spPr>
        <p:txBody>
          <a:bodyPr>
            <a:normAutofit/>
          </a:bodyPr>
          <a:lstStyle/>
          <a:p>
            <a:r>
              <a:rPr lang="en-US" sz="3200" dirty="0">
                <a:latin typeface="Times New Roman" panose="02020603050405020304" pitchFamily="18" charset="0"/>
                <a:cs typeface="Times New Roman" panose="02020603050405020304" pitchFamily="18" charset="0"/>
              </a:rPr>
              <a:t>MODULES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96BC99-477B-8C4F-E051-D9A95FAD6D36}"/>
              </a:ext>
            </a:extLst>
          </p:cNvPr>
          <p:cNvSpPr>
            <a:spLocks noGrp="1"/>
          </p:cNvSpPr>
          <p:nvPr>
            <p:ph idx="1"/>
          </p:nvPr>
        </p:nvSpPr>
        <p:spPr>
          <a:xfrm>
            <a:off x="457200" y="1285364"/>
            <a:ext cx="8229600" cy="4389120"/>
          </a:xfrm>
        </p:spPr>
        <p:txBody>
          <a:bodyPr>
            <a:normAutofit fontScale="25000" lnSpcReduction="20000"/>
          </a:bodyPr>
          <a:lstStyle/>
          <a:p>
            <a:pPr algn="l">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Data Collection Module:</a:t>
            </a:r>
            <a:endParaRPr lang="en-US" sz="64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lvl="1" indent="0" algn="l">
              <a:lnSpc>
                <a:spcPct val="170000"/>
              </a:lnSpc>
              <a:buNone/>
            </a:pPr>
            <a:r>
              <a:rPr lang="en-US" sz="64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US" sz="64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esponsible for collecting weather data from various sources, including historical weather data and real-time weather updates</a:t>
            </a:r>
            <a:r>
              <a:rPr lang="en-US" sz="64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a:t>
            </a:r>
          </a:p>
          <a:p>
            <a:pPr algn="l">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Data Preprocessing Module:</a:t>
            </a:r>
            <a:endParaRPr lang="en-US" sz="64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lvl="1" indent="0" algn="l">
              <a:lnSpc>
                <a:spcPct val="170000"/>
              </a:lnSpc>
              <a:buNone/>
            </a:pPr>
            <a:r>
              <a:rPr lang="en-US" sz="64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Ha</a:t>
            </a:r>
            <a:r>
              <a:rPr lang="en-US" sz="64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ndles preprocessing tasks such as handling missing values, outlier detection, normalization, and feature engineering.</a:t>
            </a:r>
          </a:p>
          <a:p>
            <a:pPr algn="l">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Feature Selection Module:</a:t>
            </a:r>
            <a:endParaRPr lang="en-US" sz="64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lvl="1" indent="0" algn="l">
              <a:lnSpc>
                <a:spcPct val="170000"/>
              </a:lnSpc>
              <a:buNone/>
            </a:pPr>
            <a:r>
              <a:rPr lang="en-US" sz="64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US" sz="64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elects the most relevant features for rainfall prediction using techniques like correlation analysis, feature importance, or domain knowledge.</a:t>
            </a:r>
          </a:p>
          <a:p>
            <a:pPr algn="l">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Model Training Module:</a:t>
            </a:r>
            <a:endParaRPr lang="en-US" sz="64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lvl="1" indent="0" algn="l">
              <a:lnSpc>
                <a:spcPct val="170000"/>
              </a:lnSpc>
              <a:buNone/>
            </a:pPr>
            <a:r>
              <a:rPr lang="en-US" sz="64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US" sz="64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rains machine learning classification models using the preprocessed data and selected features.</a:t>
            </a:r>
          </a:p>
          <a:p>
            <a:pPr marL="0" indent="0">
              <a:buNone/>
            </a:pPr>
            <a:endParaRPr lang="en-IN" dirty="0"/>
          </a:p>
        </p:txBody>
      </p:sp>
    </p:spTree>
    <p:extLst>
      <p:ext uri="{BB962C8B-B14F-4D97-AF65-F5344CB8AC3E}">
        <p14:creationId xmlns:p14="http://schemas.microsoft.com/office/powerpoint/2010/main" val="559322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443BC-84C8-389D-A806-489CF9B297E2}"/>
              </a:ext>
            </a:extLst>
          </p:cNvPr>
          <p:cNvSpPr>
            <a:spLocks noGrp="1"/>
          </p:cNvSpPr>
          <p:nvPr>
            <p:ph type="title"/>
          </p:nvPr>
        </p:nvSpPr>
        <p:spPr>
          <a:xfrm>
            <a:off x="457200" y="136525"/>
            <a:ext cx="8229600" cy="1143000"/>
          </a:xfrm>
        </p:spPr>
        <p:txBody>
          <a:bodyPr>
            <a:normAutofit/>
          </a:bodyPr>
          <a:lstStyle/>
          <a:p>
            <a:r>
              <a:rPr lang="en-US" sz="3200" dirty="0">
                <a:latin typeface="Times New Roman" panose="02020603050405020304" pitchFamily="18" charset="0"/>
                <a:cs typeface="Times New Roman" panose="02020603050405020304" pitchFamily="18" charset="0"/>
              </a:rPr>
              <a:t>APPLICATIONS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0DFE799-64B3-AF51-3007-F0572BD3DD80}"/>
              </a:ext>
            </a:extLst>
          </p:cNvPr>
          <p:cNvSpPr>
            <a:spLocks noGrp="1"/>
          </p:cNvSpPr>
          <p:nvPr>
            <p:ph idx="1"/>
          </p:nvPr>
        </p:nvSpPr>
        <p:spPr>
          <a:xfrm>
            <a:off x="323528" y="1244267"/>
            <a:ext cx="8229600" cy="4389120"/>
          </a:xfrm>
        </p:spPr>
        <p:txBody>
          <a:bodyPr>
            <a:normAutofit fontScale="25000" lnSpcReduction="20000"/>
          </a:bodyPr>
          <a:lstStyle/>
          <a:p>
            <a:pPr algn="just">
              <a:lnSpc>
                <a:spcPct val="170000"/>
              </a:lnSpc>
              <a:buFont typeface="Arial" panose="020B0604020202020204" pitchFamily="34" charset="0"/>
              <a:buChar char="•"/>
            </a:pPr>
            <a:r>
              <a:rPr lang="en-US" sz="6400" b="1" i="0" dirty="0">
                <a:solidFill>
                  <a:srgbClr val="0D0D0D"/>
                </a:solidFill>
                <a:effectLst/>
                <a:highlight>
                  <a:srgbClr val="FFFFFF"/>
                </a:highlight>
                <a:latin typeface="Times New Roman" panose="02020603050405020304" pitchFamily="18" charset="0"/>
                <a:cs typeface="Times New Roman" panose="02020603050405020304" pitchFamily="18" charset="0"/>
              </a:rPr>
              <a:t>Agriculture</a:t>
            </a:r>
            <a:r>
              <a:rPr lang="en-US" sz="6400" b="0" i="0" dirty="0">
                <a:solidFill>
                  <a:srgbClr val="0D0D0D"/>
                </a:solidFill>
                <a:effectLst/>
                <a:highlight>
                  <a:srgbClr val="FFFFFF"/>
                </a:highlight>
                <a:latin typeface="Times New Roman" panose="02020603050405020304" pitchFamily="18" charset="0"/>
                <a:cs typeface="Times New Roman" panose="02020603050405020304" pitchFamily="18" charset="0"/>
              </a:rPr>
              <a:t>: F</a:t>
            </a:r>
            <a:r>
              <a:rPr lang="en-US" sz="6400" b="0" i="0" cap="none" dirty="0">
                <a:solidFill>
                  <a:srgbClr val="0D0D0D"/>
                </a:solidFill>
                <a:effectLst/>
                <a:highlight>
                  <a:srgbClr val="FFFFFF"/>
                </a:highlight>
                <a:latin typeface="Times New Roman" panose="02020603050405020304" pitchFamily="18" charset="0"/>
                <a:cs typeface="Times New Roman" panose="02020603050405020304" pitchFamily="18" charset="0"/>
              </a:rPr>
              <a:t>armers rely on rain predictions to plan their planting, irrigation, and harvesting schedules. accurate forecasts help optimize water usage and prevent crop damage </a:t>
            </a:r>
            <a:r>
              <a:rPr lang="en-US" sz="6400" b="0" i="0" cap="none" dirty="0">
                <a:solidFill>
                  <a:srgbClr val="0D0D0D"/>
                </a:solidFill>
                <a:effectLst/>
                <a:latin typeface="Times New Roman" panose="02020603050405020304" pitchFamily="18" charset="0"/>
                <a:cs typeface="Times New Roman" panose="02020603050405020304" pitchFamily="18" charset="0"/>
              </a:rPr>
              <a:t>due to droughts or floods.</a:t>
            </a:r>
          </a:p>
          <a:p>
            <a:pPr algn="just">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cs typeface="Times New Roman" panose="02020603050405020304" pitchFamily="18" charset="0"/>
              </a:rPr>
              <a:t>Water Resource Management</a:t>
            </a:r>
            <a:r>
              <a:rPr lang="en-US" sz="6400" b="0" i="0" dirty="0">
                <a:solidFill>
                  <a:srgbClr val="0D0D0D"/>
                </a:solidFill>
                <a:effectLst/>
                <a:latin typeface="Times New Roman" panose="02020603050405020304" pitchFamily="18" charset="0"/>
                <a:cs typeface="Times New Roman" panose="02020603050405020304" pitchFamily="18" charset="0"/>
              </a:rPr>
              <a:t>: W</a:t>
            </a:r>
            <a:r>
              <a:rPr lang="en-US" sz="6400" b="0" i="0" cap="none" dirty="0">
                <a:solidFill>
                  <a:srgbClr val="0D0D0D"/>
                </a:solidFill>
                <a:effectLst/>
                <a:latin typeface="Times New Roman" panose="02020603050405020304" pitchFamily="18" charset="0"/>
                <a:cs typeface="Times New Roman" panose="02020603050405020304" pitchFamily="18" charset="0"/>
              </a:rPr>
              <a:t>ater resource managers use rain predictions to anticipate water availability and plan reservoir releases, irrigation schedules, and drought mitigation measures.</a:t>
            </a:r>
          </a:p>
          <a:p>
            <a:pPr algn="just">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cs typeface="Times New Roman" panose="02020603050405020304" pitchFamily="18" charset="0"/>
              </a:rPr>
              <a:t>Urban Planning</a:t>
            </a:r>
            <a:r>
              <a:rPr lang="en-US" sz="6400" b="0" i="0" dirty="0">
                <a:solidFill>
                  <a:srgbClr val="0D0D0D"/>
                </a:solidFill>
                <a:effectLst/>
                <a:latin typeface="Times New Roman" panose="02020603050405020304" pitchFamily="18" charset="0"/>
                <a:cs typeface="Times New Roman" panose="02020603050405020304" pitchFamily="18" charset="0"/>
              </a:rPr>
              <a:t>: </a:t>
            </a:r>
            <a:r>
              <a:rPr lang="en-US" sz="6400" cap="none" dirty="0">
                <a:solidFill>
                  <a:srgbClr val="0D0D0D"/>
                </a:solidFill>
                <a:latin typeface="Times New Roman" panose="02020603050405020304" pitchFamily="18" charset="0"/>
                <a:cs typeface="Times New Roman" panose="02020603050405020304" pitchFamily="18" charset="0"/>
              </a:rPr>
              <a:t>C</a:t>
            </a:r>
            <a:r>
              <a:rPr lang="en-US" sz="6400" b="0" i="0" cap="none" dirty="0">
                <a:solidFill>
                  <a:srgbClr val="0D0D0D"/>
                </a:solidFill>
                <a:effectLst/>
                <a:latin typeface="Times New Roman" panose="02020603050405020304" pitchFamily="18" charset="0"/>
                <a:cs typeface="Times New Roman" panose="02020603050405020304" pitchFamily="18" charset="0"/>
              </a:rPr>
              <a:t>ity planners use rain predictions to design stormwater management systems, mitigate flood risks, and plan infrastructure projects such as drainage systems and flood barriers.</a:t>
            </a:r>
          </a:p>
          <a:p>
            <a:pPr algn="just">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cs typeface="Times New Roman" panose="02020603050405020304" pitchFamily="18" charset="0"/>
              </a:rPr>
              <a:t>Transportation</a:t>
            </a:r>
            <a:r>
              <a:rPr lang="en-US" sz="6400" b="0" i="0" dirty="0">
                <a:solidFill>
                  <a:srgbClr val="0D0D0D"/>
                </a:solidFill>
                <a:effectLst/>
                <a:latin typeface="Times New Roman" panose="02020603050405020304" pitchFamily="18" charset="0"/>
                <a:cs typeface="Times New Roman" panose="02020603050405020304" pitchFamily="18" charset="0"/>
              </a:rPr>
              <a:t>: </a:t>
            </a:r>
            <a:r>
              <a:rPr lang="en-US" sz="6400" cap="none" dirty="0">
                <a:solidFill>
                  <a:srgbClr val="0D0D0D"/>
                </a:solidFill>
                <a:latin typeface="Times New Roman" panose="02020603050405020304" pitchFamily="18" charset="0"/>
                <a:cs typeface="Times New Roman" panose="02020603050405020304" pitchFamily="18" charset="0"/>
              </a:rPr>
              <a:t>R</a:t>
            </a:r>
            <a:r>
              <a:rPr lang="en-US" sz="6400" b="0" i="0" cap="none" dirty="0">
                <a:solidFill>
                  <a:srgbClr val="0D0D0D"/>
                </a:solidFill>
                <a:effectLst/>
                <a:latin typeface="Times New Roman" panose="02020603050405020304" pitchFamily="18" charset="0"/>
                <a:cs typeface="Times New Roman" panose="02020603050405020304" pitchFamily="18" charset="0"/>
              </a:rPr>
              <a:t>ain forecasts are crucial for managing traffic flow, especially in urban areas prone to congestion and accidents during heavy rainfall. transportation authorities use this information to implement safety measures and reroute traffic if necessary.</a:t>
            </a:r>
          </a:p>
          <a:p>
            <a:endParaRPr lang="en-IN" dirty="0"/>
          </a:p>
        </p:txBody>
      </p:sp>
    </p:spTree>
    <p:extLst>
      <p:ext uri="{BB962C8B-B14F-4D97-AF65-F5344CB8AC3E}">
        <p14:creationId xmlns:p14="http://schemas.microsoft.com/office/powerpoint/2010/main" val="2543313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AE25A-AB61-DA94-508A-EB60A5AFD87C}"/>
              </a:ext>
            </a:extLst>
          </p:cNvPr>
          <p:cNvSpPr>
            <a:spLocks noGrp="1"/>
          </p:cNvSpPr>
          <p:nvPr>
            <p:ph type="title"/>
          </p:nvPr>
        </p:nvSpPr>
        <p:spPr>
          <a:xfrm>
            <a:off x="323528" y="116632"/>
            <a:ext cx="8229600" cy="1143000"/>
          </a:xfrm>
        </p:spPr>
        <p:txBody>
          <a:bodyPr>
            <a:normAutofit/>
          </a:bodyPr>
          <a:lstStyle/>
          <a:p>
            <a:r>
              <a:rPr lang="en-IN" sz="3200" b="0" i="0" dirty="0">
                <a:effectLst/>
                <a:highlight>
                  <a:srgbClr val="FFFFFF"/>
                </a:highlight>
                <a:latin typeface="Times New Roman" panose="02020603050405020304" pitchFamily="18" charset="0"/>
                <a:cs typeface="Times New Roman" panose="02020603050405020304" pitchFamily="18" charset="0"/>
              </a:rPr>
              <a:t>PERFORMANCE METRICS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638D9E-952F-21FE-FF87-16BAEF6CEEEF}"/>
              </a:ext>
            </a:extLst>
          </p:cNvPr>
          <p:cNvSpPr>
            <a:spLocks noGrp="1"/>
          </p:cNvSpPr>
          <p:nvPr>
            <p:ph idx="1"/>
          </p:nvPr>
        </p:nvSpPr>
        <p:spPr>
          <a:xfrm>
            <a:off x="323528" y="980728"/>
            <a:ext cx="8229600" cy="4389120"/>
          </a:xfrm>
        </p:spPr>
        <p:txBody>
          <a:bodyPr>
            <a:normAutofit fontScale="25000" lnSpcReduction="20000"/>
          </a:bodyPr>
          <a:lstStyle/>
          <a:p>
            <a:pPr algn="just">
              <a:lnSpc>
                <a:spcPct val="170000"/>
              </a:lnSpc>
              <a:buFont typeface="Arial" panose="020B0604020202020204" pitchFamily="34" charset="0"/>
              <a:buChar char="•"/>
            </a:pPr>
            <a:r>
              <a:rPr lang="en-US" sz="6400" b="1" i="0" dirty="0">
                <a:solidFill>
                  <a:srgbClr val="0D0D0D"/>
                </a:solidFill>
                <a:effectLst/>
                <a:highlight>
                  <a:srgbClr val="FFFFFF"/>
                </a:highlight>
                <a:latin typeface="Times New Roman" panose="02020603050405020304" pitchFamily="18" charset="0"/>
                <a:cs typeface="Times New Roman" panose="02020603050405020304" pitchFamily="18" charset="0"/>
              </a:rPr>
              <a:t>Accuracy</a:t>
            </a:r>
            <a:r>
              <a:rPr lang="en-US" sz="6400" b="0" i="0" dirty="0">
                <a:solidFill>
                  <a:srgbClr val="0D0D0D"/>
                </a:solidFill>
                <a:effectLst/>
                <a:highlight>
                  <a:srgbClr val="FFFFFF"/>
                </a:highlight>
                <a:latin typeface="Times New Roman" panose="02020603050405020304" pitchFamily="18" charset="0"/>
                <a:cs typeface="Times New Roman" panose="02020603050405020304" pitchFamily="18" charset="0"/>
              </a:rPr>
              <a:t>: </a:t>
            </a:r>
            <a:r>
              <a:rPr lang="en-US" sz="6400" cap="none" dirty="0">
                <a:solidFill>
                  <a:srgbClr val="0D0D0D"/>
                </a:solidFill>
                <a:highlight>
                  <a:srgbClr val="FFFFFF"/>
                </a:highlight>
                <a:latin typeface="Times New Roman" panose="02020603050405020304" pitchFamily="18" charset="0"/>
                <a:cs typeface="Times New Roman" panose="02020603050405020304" pitchFamily="18" charset="0"/>
              </a:rPr>
              <a:t>A</a:t>
            </a:r>
            <a:r>
              <a:rPr lang="en-US" sz="6400" b="0" i="0" cap="none" dirty="0">
                <a:solidFill>
                  <a:srgbClr val="0D0D0D"/>
                </a:solidFill>
                <a:effectLst/>
                <a:highlight>
                  <a:srgbClr val="FFFFFF"/>
                </a:highlight>
                <a:latin typeface="Times New Roman" panose="02020603050405020304" pitchFamily="18" charset="0"/>
                <a:cs typeface="Times New Roman" panose="02020603050405020304" pitchFamily="18" charset="0"/>
              </a:rPr>
              <a:t>ccuracy measures the proportion of correctly predicted rainy and non-rainy instances. high accuracy indicates that the model is effectively distinguishing between rainy and non-rainy conditions.</a:t>
            </a:r>
          </a:p>
          <a:p>
            <a:pPr algn="just">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cs typeface="Times New Roman" panose="02020603050405020304" pitchFamily="18" charset="0"/>
              </a:rPr>
              <a:t>F1 Score</a:t>
            </a:r>
            <a:r>
              <a:rPr lang="en-US" sz="6400" b="0" i="0" dirty="0">
                <a:solidFill>
                  <a:srgbClr val="0D0D0D"/>
                </a:solidFill>
                <a:effectLst/>
                <a:latin typeface="Times New Roman" panose="02020603050405020304" pitchFamily="18" charset="0"/>
                <a:cs typeface="Times New Roman" panose="02020603050405020304" pitchFamily="18" charset="0"/>
              </a:rPr>
              <a:t>: </a:t>
            </a:r>
            <a:r>
              <a:rPr lang="en-US" sz="6400" cap="none" dirty="0">
                <a:solidFill>
                  <a:srgbClr val="0D0D0D"/>
                </a:solidFill>
                <a:latin typeface="Times New Roman" panose="02020603050405020304" pitchFamily="18" charset="0"/>
                <a:cs typeface="Times New Roman" panose="02020603050405020304" pitchFamily="18" charset="0"/>
              </a:rPr>
              <a:t>T</a:t>
            </a:r>
            <a:r>
              <a:rPr lang="en-US" sz="6400" b="0" i="0" cap="none" dirty="0">
                <a:solidFill>
                  <a:srgbClr val="0D0D0D"/>
                </a:solidFill>
                <a:effectLst/>
                <a:latin typeface="Times New Roman" panose="02020603050405020304" pitchFamily="18" charset="0"/>
                <a:cs typeface="Times New Roman" panose="02020603050405020304" pitchFamily="18" charset="0"/>
              </a:rPr>
              <a:t>he f1 score is the harmonic mean of precision and recall and provides a single metric that balances both. </a:t>
            </a:r>
          </a:p>
          <a:p>
            <a:pPr algn="just">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cs typeface="Times New Roman" panose="02020603050405020304" pitchFamily="18" charset="0"/>
              </a:rPr>
              <a:t>Precision and Recall</a:t>
            </a:r>
            <a:r>
              <a:rPr lang="en-US" sz="6400" b="0" i="0" dirty="0">
                <a:solidFill>
                  <a:srgbClr val="0D0D0D"/>
                </a:solidFill>
                <a:effectLst/>
                <a:latin typeface="Times New Roman" panose="02020603050405020304" pitchFamily="18" charset="0"/>
                <a:cs typeface="Times New Roman" panose="02020603050405020304" pitchFamily="18" charset="0"/>
              </a:rPr>
              <a:t>: </a:t>
            </a:r>
            <a:r>
              <a:rPr lang="en-US" sz="6400" cap="none" dirty="0">
                <a:solidFill>
                  <a:srgbClr val="0D0D0D"/>
                </a:solidFill>
                <a:latin typeface="Times New Roman" panose="02020603050405020304" pitchFamily="18" charset="0"/>
                <a:cs typeface="Times New Roman" panose="02020603050405020304" pitchFamily="18" charset="0"/>
              </a:rPr>
              <a:t>P</a:t>
            </a:r>
            <a:r>
              <a:rPr lang="en-US" sz="6400" b="0" i="0" cap="none" dirty="0">
                <a:solidFill>
                  <a:srgbClr val="0D0D0D"/>
                </a:solidFill>
                <a:effectLst/>
                <a:latin typeface="Times New Roman" panose="02020603050405020304" pitchFamily="18" charset="0"/>
                <a:cs typeface="Times New Roman" panose="02020603050405020304" pitchFamily="18" charset="0"/>
              </a:rPr>
              <a:t>recision measures the proportion of correctly predicted rainy instances among all instances predicted as rainy, while recall measures the proportion of correctly predicted rainy instances among all actual rainy instances.</a:t>
            </a:r>
            <a:endParaRPr lang="en-US" sz="6400" b="0" i="0" dirty="0">
              <a:solidFill>
                <a:srgbClr val="0D0D0D"/>
              </a:solidFill>
              <a:effectLst/>
              <a:latin typeface="Times New Roman" panose="02020603050405020304" pitchFamily="18" charset="0"/>
              <a:cs typeface="Times New Roman" panose="02020603050405020304" pitchFamily="18" charset="0"/>
            </a:endParaRPr>
          </a:p>
          <a:p>
            <a:pPr algn="just">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cs typeface="Times New Roman" panose="02020603050405020304" pitchFamily="18" charset="0"/>
              </a:rPr>
              <a:t>Mean Absolute Error (MAE)</a:t>
            </a:r>
            <a:r>
              <a:rPr lang="en-US" sz="6400" b="0" i="0" dirty="0">
                <a:solidFill>
                  <a:srgbClr val="0D0D0D"/>
                </a:solidFill>
                <a:effectLst/>
                <a:latin typeface="Times New Roman" panose="02020603050405020304" pitchFamily="18" charset="0"/>
                <a:cs typeface="Times New Roman" panose="02020603050405020304" pitchFamily="18" charset="0"/>
              </a:rPr>
              <a:t> and </a:t>
            </a:r>
            <a:r>
              <a:rPr lang="en-US" sz="6400" b="1" i="0" dirty="0">
                <a:solidFill>
                  <a:srgbClr val="0D0D0D"/>
                </a:solidFill>
                <a:effectLst/>
                <a:latin typeface="Times New Roman" panose="02020603050405020304" pitchFamily="18" charset="0"/>
                <a:cs typeface="Times New Roman" panose="02020603050405020304" pitchFamily="18" charset="0"/>
              </a:rPr>
              <a:t>Root Mean Squared Error (RMSE)</a:t>
            </a:r>
            <a:r>
              <a:rPr lang="en-US" sz="6400" b="0" i="0" dirty="0">
                <a:solidFill>
                  <a:srgbClr val="0D0D0D"/>
                </a:solidFill>
                <a:effectLst/>
                <a:latin typeface="Times New Roman" panose="02020603050405020304" pitchFamily="18" charset="0"/>
                <a:cs typeface="Times New Roman" panose="02020603050405020304" pitchFamily="18" charset="0"/>
              </a:rPr>
              <a:t>: </a:t>
            </a:r>
            <a:r>
              <a:rPr lang="en-US" sz="6400" cap="none" dirty="0">
                <a:solidFill>
                  <a:srgbClr val="0D0D0D"/>
                </a:solidFill>
                <a:latin typeface="Times New Roman" panose="02020603050405020304" pitchFamily="18" charset="0"/>
                <a:cs typeface="Times New Roman" panose="02020603050405020304" pitchFamily="18" charset="0"/>
              </a:rPr>
              <a:t>T</a:t>
            </a:r>
            <a:r>
              <a:rPr lang="en-US" sz="6400" b="0" i="0" cap="none" dirty="0">
                <a:solidFill>
                  <a:srgbClr val="0D0D0D"/>
                </a:solidFill>
                <a:effectLst/>
                <a:latin typeface="Times New Roman" panose="02020603050405020304" pitchFamily="18" charset="0"/>
                <a:cs typeface="Times New Roman" panose="02020603050405020304" pitchFamily="18" charset="0"/>
              </a:rPr>
              <a:t>hese metrics quantify the average and root mean squared differences between predicted and observed rainfall amounts, respectively. </a:t>
            </a:r>
          </a:p>
          <a:p>
            <a:pPr algn="just">
              <a:lnSpc>
                <a:spcPct val="170000"/>
              </a:lnSpc>
              <a:buFont typeface="Arial" panose="020B0604020202020204" pitchFamily="34" charset="0"/>
              <a:buChar char="•"/>
            </a:pPr>
            <a:r>
              <a:rPr lang="en-US" sz="6400" b="1" i="0" dirty="0">
                <a:solidFill>
                  <a:srgbClr val="0D0D0D"/>
                </a:solidFill>
                <a:effectLst/>
                <a:latin typeface="Times New Roman" panose="02020603050405020304" pitchFamily="18" charset="0"/>
                <a:cs typeface="Times New Roman" panose="02020603050405020304" pitchFamily="18" charset="0"/>
              </a:rPr>
              <a:t>Lead Time</a:t>
            </a:r>
            <a:r>
              <a:rPr lang="en-US" sz="6400" b="0" i="0" dirty="0">
                <a:solidFill>
                  <a:srgbClr val="0D0D0D"/>
                </a:solidFill>
                <a:effectLst/>
                <a:latin typeface="Times New Roman" panose="02020603050405020304" pitchFamily="18" charset="0"/>
                <a:cs typeface="Times New Roman" panose="02020603050405020304" pitchFamily="18" charset="0"/>
              </a:rPr>
              <a:t>: </a:t>
            </a:r>
            <a:r>
              <a:rPr lang="en-US" sz="6400" b="0" i="0" cap="none" dirty="0">
                <a:solidFill>
                  <a:srgbClr val="0D0D0D"/>
                </a:solidFill>
                <a:effectLst/>
                <a:latin typeface="Times New Roman" panose="02020603050405020304" pitchFamily="18" charset="0"/>
                <a:cs typeface="Times New Roman" panose="02020603050405020304" pitchFamily="18" charset="0"/>
              </a:rPr>
              <a:t>lead time measures the duration between the issuance of a rainfall forecast and the occurrence of rainfall events. longer lead times allow for better preparedness and decision-making in various applications.</a:t>
            </a:r>
          </a:p>
          <a:p>
            <a:pPr algn="l">
              <a:lnSpc>
                <a:spcPct val="170000"/>
              </a:lnSpc>
              <a:buFont typeface="+mj-lt"/>
              <a:buAutoNum type="arabicPeriod"/>
            </a:pPr>
            <a:endParaRPr lang="en-US" sz="21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endParaRPr lang="en-IN" sz="1600" dirty="0"/>
          </a:p>
        </p:txBody>
      </p:sp>
    </p:spTree>
    <p:extLst>
      <p:ext uri="{BB962C8B-B14F-4D97-AF65-F5344CB8AC3E}">
        <p14:creationId xmlns:p14="http://schemas.microsoft.com/office/powerpoint/2010/main" val="2316155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DCD6B-557A-FB89-2119-677085B085AC}"/>
              </a:ext>
            </a:extLst>
          </p:cNvPr>
          <p:cNvSpPr>
            <a:spLocks noGrp="1"/>
          </p:cNvSpPr>
          <p:nvPr>
            <p:ph type="title"/>
          </p:nvPr>
        </p:nvSpPr>
        <p:spPr>
          <a:xfrm>
            <a:off x="323528" y="205105"/>
            <a:ext cx="8229600" cy="1143000"/>
          </a:xfrm>
        </p:spPr>
        <p:txBody>
          <a:bodyPr>
            <a:normAutofit/>
          </a:bodyPr>
          <a:lstStyle/>
          <a:p>
            <a:r>
              <a:rPr lang="en-US" sz="3200" dirty="0">
                <a:latin typeface="Times New Roman" panose="02020603050405020304" pitchFamily="18" charset="0"/>
                <a:cs typeface="Times New Roman" panose="02020603050405020304" pitchFamily="18" charset="0"/>
              </a:rPr>
              <a:t>EXPECTED RESULT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6991C4-E6E0-01A4-9495-D288F84EC29D}"/>
              </a:ext>
            </a:extLst>
          </p:cNvPr>
          <p:cNvSpPr>
            <a:spLocks noGrp="1"/>
          </p:cNvSpPr>
          <p:nvPr>
            <p:ph idx="1"/>
          </p:nvPr>
        </p:nvSpPr>
        <p:spPr>
          <a:xfrm>
            <a:off x="683568" y="1556792"/>
            <a:ext cx="8229600" cy="4389120"/>
          </a:xfrm>
        </p:spPr>
        <p:txBody>
          <a:bodyPr>
            <a:normAutofit/>
          </a:bodyPr>
          <a:lstStyle/>
          <a:p>
            <a:pPr algn="just">
              <a:lnSpc>
                <a:spcPct val="150000"/>
              </a:lnSpc>
              <a:buFont typeface="Arial" panose="020B0604020202020204" pitchFamily="34" charset="0"/>
              <a:buChar char="•"/>
            </a:pPr>
            <a:r>
              <a:rPr lang="en-US" sz="1600" cap="none" dirty="0">
                <a:highlight>
                  <a:srgbClr val="FFFFFF"/>
                </a:highlight>
                <a:latin typeface="Times New Roman" panose="02020603050405020304" pitchFamily="18" charset="0"/>
                <a:cs typeface="Times New Roman" panose="02020603050405020304" pitchFamily="18" charset="0"/>
              </a:rPr>
              <a:t>H</a:t>
            </a:r>
            <a:r>
              <a:rPr lang="en-US" sz="1600" i="0" cap="none" dirty="0">
                <a:highlight>
                  <a:srgbClr val="FFFFFF"/>
                </a:highlight>
                <a:latin typeface="Times New Roman" panose="02020603050405020304" pitchFamily="18" charset="0"/>
                <a:cs typeface="Times New Roman" panose="02020603050405020304" pitchFamily="18" charset="0"/>
              </a:rPr>
              <a:t>igh </a:t>
            </a:r>
            <a:r>
              <a:rPr lang="en-US" sz="1600" cap="none" dirty="0">
                <a:highlight>
                  <a:srgbClr val="FFFFFF"/>
                </a:highlight>
                <a:latin typeface="Times New Roman" panose="02020603050405020304" pitchFamily="18" charset="0"/>
                <a:cs typeface="Times New Roman" panose="02020603050405020304" pitchFamily="18" charset="0"/>
              </a:rPr>
              <a:t>A</a:t>
            </a:r>
            <a:r>
              <a:rPr lang="en-US" sz="1600" i="0" cap="none" dirty="0">
                <a:highlight>
                  <a:srgbClr val="FFFFFF"/>
                </a:highlight>
                <a:latin typeface="Times New Roman" panose="02020603050405020304" pitchFamily="18" charset="0"/>
                <a:cs typeface="Times New Roman" panose="02020603050405020304" pitchFamily="18" charset="0"/>
              </a:rPr>
              <a:t>ccuracy, Precision, Recall, and F1 score, indicating reliable differentiation between rainy and non-rainy conditions.</a:t>
            </a:r>
          </a:p>
          <a:p>
            <a:pPr algn="just">
              <a:lnSpc>
                <a:spcPct val="150000"/>
              </a:lnSpc>
              <a:buFont typeface="Arial" panose="020B0604020202020204" pitchFamily="34" charset="0"/>
              <a:buChar char="•"/>
            </a:pPr>
            <a:r>
              <a:rPr lang="en-US" sz="1600" i="0" cap="none" dirty="0">
                <a:latin typeface="Times New Roman" panose="02020603050405020304" pitchFamily="18" charset="0"/>
                <a:cs typeface="Times New Roman" panose="02020603050405020304" pitchFamily="18" charset="0"/>
              </a:rPr>
              <a:t>AUC close to 1, indicating excellent discrimination between rainy and non-rainy instances.</a:t>
            </a:r>
          </a:p>
          <a:p>
            <a:pPr algn="just">
              <a:lnSpc>
                <a:spcPct val="150000"/>
              </a:lnSpc>
              <a:buFont typeface="Arial" panose="020B0604020202020204" pitchFamily="34" charset="0"/>
              <a:buChar char="•"/>
            </a:pPr>
            <a:r>
              <a:rPr lang="en-US" sz="1600" i="0" dirty="0">
                <a:latin typeface="Times New Roman" panose="02020603050405020304" pitchFamily="18" charset="0"/>
                <a:cs typeface="Times New Roman" panose="02020603050405020304" pitchFamily="18" charset="0"/>
              </a:rPr>
              <a:t>L</a:t>
            </a:r>
            <a:r>
              <a:rPr lang="en-US" sz="1600" i="0" cap="none" dirty="0">
                <a:latin typeface="Times New Roman" panose="02020603050405020304" pitchFamily="18" charset="0"/>
                <a:cs typeface="Times New Roman" panose="02020603050405020304" pitchFamily="18" charset="0"/>
              </a:rPr>
              <a:t>ow</a:t>
            </a:r>
            <a:r>
              <a:rPr lang="en-US" sz="1600" i="0" dirty="0">
                <a:latin typeface="Times New Roman" panose="02020603050405020304" pitchFamily="18" charset="0"/>
                <a:cs typeface="Times New Roman" panose="02020603050405020304" pitchFamily="18" charset="0"/>
              </a:rPr>
              <a:t> MAE </a:t>
            </a:r>
            <a:r>
              <a:rPr lang="en-US" sz="1600" i="0" cap="none" dirty="0">
                <a:latin typeface="Times New Roman" panose="02020603050405020304" pitchFamily="18" charset="0"/>
                <a:cs typeface="Times New Roman" panose="02020603050405020304" pitchFamily="18" charset="0"/>
              </a:rPr>
              <a:t>and</a:t>
            </a:r>
            <a:r>
              <a:rPr lang="en-US" sz="1600" i="0" dirty="0">
                <a:latin typeface="Times New Roman" panose="02020603050405020304" pitchFamily="18" charset="0"/>
                <a:cs typeface="Times New Roman" panose="02020603050405020304" pitchFamily="18" charset="0"/>
              </a:rPr>
              <a:t> RMSE, </a:t>
            </a:r>
            <a:r>
              <a:rPr lang="en-US" sz="1600" i="0" cap="none" dirty="0">
                <a:latin typeface="Times New Roman" panose="02020603050405020304" pitchFamily="18" charset="0"/>
                <a:cs typeface="Times New Roman" panose="02020603050405020304" pitchFamily="18" charset="0"/>
              </a:rPr>
              <a:t>indicating accurate prediction of rainfall amounts.</a:t>
            </a:r>
          </a:p>
          <a:p>
            <a:pPr algn="just">
              <a:lnSpc>
                <a:spcPct val="150000"/>
              </a:lnSpc>
              <a:buFont typeface="Arial" panose="020B0604020202020204" pitchFamily="34" charset="0"/>
              <a:buChar char="•"/>
            </a:pPr>
            <a:r>
              <a:rPr lang="en-US" sz="1600" i="0" dirty="0">
                <a:latin typeface="Times New Roman" panose="02020603050405020304" pitchFamily="18" charset="0"/>
                <a:cs typeface="Times New Roman" panose="02020603050405020304" pitchFamily="18" charset="0"/>
              </a:rPr>
              <a:t>M</a:t>
            </a:r>
            <a:r>
              <a:rPr lang="en-US" sz="1600" i="0" cap="none" dirty="0">
                <a:latin typeface="Times New Roman" panose="02020603050405020304" pitchFamily="18" charset="0"/>
                <a:cs typeface="Times New Roman" panose="02020603050405020304" pitchFamily="18" charset="0"/>
              </a:rPr>
              <a:t>inimal bias and positive skill score, indicating improvement over climatological or reference models.</a:t>
            </a:r>
          </a:p>
          <a:p>
            <a:pPr algn="just">
              <a:lnSpc>
                <a:spcPct val="150000"/>
              </a:lnSpc>
              <a:buFont typeface="Arial" panose="020B0604020202020204" pitchFamily="34" charset="0"/>
              <a:buChar char="•"/>
            </a:pPr>
            <a:r>
              <a:rPr lang="en-US" sz="1600" i="0" dirty="0">
                <a:latin typeface="Times New Roman" panose="02020603050405020304" pitchFamily="18" charset="0"/>
                <a:cs typeface="Times New Roman" panose="02020603050405020304" pitchFamily="18" charset="0"/>
              </a:rPr>
              <a:t>E</a:t>
            </a:r>
            <a:r>
              <a:rPr lang="en-US" sz="1600" i="0" cap="none" dirty="0">
                <a:latin typeface="Times New Roman" panose="02020603050405020304" pitchFamily="18" charset="0"/>
                <a:cs typeface="Times New Roman" panose="02020603050405020304" pitchFamily="18" charset="0"/>
              </a:rPr>
              <a:t>xtended lead times, allowing stakeholders to make timely decisions and take appropriate actions in response to forecasted rainfall events.</a:t>
            </a:r>
          </a:p>
          <a:p>
            <a:endParaRPr lang="en-IN" dirty="0"/>
          </a:p>
        </p:txBody>
      </p:sp>
    </p:spTree>
    <p:extLst>
      <p:ext uri="{BB962C8B-B14F-4D97-AF65-F5344CB8AC3E}">
        <p14:creationId xmlns:p14="http://schemas.microsoft.com/office/powerpoint/2010/main" val="836909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4DF344-CEA4-C3DA-F6FF-3B8A6B7A461E}"/>
              </a:ext>
            </a:extLst>
          </p:cNvPr>
          <p:cNvSpPr txBox="1"/>
          <p:nvPr/>
        </p:nvSpPr>
        <p:spPr>
          <a:xfrm>
            <a:off x="179512" y="188640"/>
            <a:ext cx="4572000" cy="646331"/>
          </a:xfrm>
          <a:prstGeom prst="rect">
            <a:avLst/>
          </a:prstGeom>
          <a:noFill/>
        </p:spPr>
        <p:txBody>
          <a:bodyPr wrap="square">
            <a:spAutoFit/>
          </a:bodyPr>
          <a:lstStyle/>
          <a:p>
            <a:r>
              <a:rPr lang="en-US" sz="3600" dirty="0">
                <a:latin typeface="Times New Roman" panose="02020603050405020304" pitchFamily="18" charset="0"/>
                <a:cs typeface="Times New Roman" panose="02020603050405020304" pitchFamily="18" charset="0"/>
              </a:rPr>
              <a:t>VISULIZATION</a:t>
            </a:r>
            <a:endParaRPr lang="en-IN" sz="3600" dirty="0"/>
          </a:p>
        </p:txBody>
      </p:sp>
      <p:pic>
        <p:nvPicPr>
          <p:cNvPr id="3" name="Picture 2">
            <a:extLst>
              <a:ext uri="{FF2B5EF4-FFF2-40B4-BE49-F238E27FC236}">
                <a16:creationId xmlns:a16="http://schemas.microsoft.com/office/drawing/2014/main" id="{D6A433D8-1FA8-E13E-874D-41CDD93C9C73}"/>
              </a:ext>
            </a:extLst>
          </p:cNvPr>
          <p:cNvPicPr>
            <a:picLocks noChangeAspect="1"/>
          </p:cNvPicPr>
          <p:nvPr/>
        </p:nvPicPr>
        <p:blipFill>
          <a:blip r:embed="rId2"/>
          <a:stretch>
            <a:fillRect/>
          </a:stretch>
        </p:blipFill>
        <p:spPr>
          <a:xfrm>
            <a:off x="140759" y="1196752"/>
            <a:ext cx="8967745" cy="4680520"/>
          </a:xfrm>
          <a:prstGeom prst="rect">
            <a:avLst/>
          </a:prstGeom>
        </p:spPr>
      </p:pic>
    </p:spTree>
    <p:extLst>
      <p:ext uri="{BB962C8B-B14F-4D97-AF65-F5344CB8AC3E}">
        <p14:creationId xmlns:p14="http://schemas.microsoft.com/office/powerpoint/2010/main" val="1741916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FCDFD3-6068-12D5-4886-34162D189DB1}"/>
              </a:ext>
            </a:extLst>
          </p:cNvPr>
          <p:cNvPicPr>
            <a:picLocks noChangeAspect="1"/>
          </p:cNvPicPr>
          <p:nvPr/>
        </p:nvPicPr>
        <p:blipFill>
          <a:blip r:embed="rId2"/>
          <a:stretch>
            <a:fillRect/>
          </a:stretch>
        </p:blipFill>
        <p:spPr>
          <a:xfrm>
            <a:off x="395536" y="764704"/>
            <a:ext cx="8352928" cy="5328592"/>
          </a:xfrm>
          <a:prstGeom prst="rect">
            <a:avLst/>
          </a:prstGeom>
        </p:spPr>
      </p:pic>
    </p:spTree>
    <p:extLst>
      <p:ext uri="{BB962C8B-B14F-4D97-AF65-F5344CB8AC3E}">
        <p14:creationId xmlns:p14="http://schemas.microsoft.com/office/powerpoint/2010/main" val="3132479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4AFF4-4AE6-0FC3-0F97-E8ECB7903B02}"/>
              </a:ext>
            </a:extLst>
          </p:cNvPr>
          <p:cNvSpPr>
            <a:spLocks noGrp="1"/>
          </p:cNvSpPr>
          <p:nvPr>
            <p:ph type="title"/>
          </p:nvPr>
        </p:nvSpPr>
        <p:spPr>
          <a:xfrm>
            <a:off x="323528" y="151482"/>
            <a:ext cx="8229600" cy="1143000"/>
          </a:xfrm>
        </p:spPr>
        <p:txBody>
          <a:bodyPr>
            <a:normAutofit/>
          </a:bodyPr>
          <a:lstStyle/>
          <a:p>
            <a:r>
              <a:rPr lang="en-IN" sz="3200" dirty="0">
                <a:latin typeface="Times New Roman" panose="02020603050405020304" pitchFamily="18" charset="0"/>
                <a:cs typeface="Times New Roman" panose="02020603050405020304" pitchFamily="18" charset="0"/>
              </a:rPr>
              <a:t>FUTURE ENHANCEMENT</a:t>
            </a:r>
          </a:p>
        </p:txBody>
      </p:sp>
      <p:sp>
        <p:nvSpPr>
          <p:cNvPr id="3" name="Content Placeholder 2">
            <a:extLst>
              <a:ext uri="{FF2B5EF4-FFF2-40B4-BE49-F238E27FC236}">
                <a16:creationId xmlns:a16="http://schemas.microsoft.com/office/drawing/2014/main" id="{E2AE6761-6345-4800-8772-01523AA4B9EA}"/>
              </a:ext>
            </a:extLst>
          </p:cNvPr>
          <p:cNvSpPr>
            <a:spLocks noGrp="1"/>
          </p:cNvSpPr>
          <p:nvPr>
            <p:ph idx="1"/>
          </p:nvPr>
        </p:nvSpPr>
        <p:spPr>
          <a:xfrm>
            <a:off x="457200" y="1294482"/>
            <a:ext cx="8229600" cy="4389120"/>
          </a:xfrm>
        </p:spPr>
        <p:txBody>
          <a:bodyPr>
            <a:noAutofit/>
          </a:bodyPr>
          <a:lstStyle/>
          <a:p>
            <a:pPr algn="l">
              <a:lnSpc>
                <a:spcPct val="150000"/>
              </a:lnSpc>
              <a:buFont typeface="Arial" panose="020B0604020202020204" pitchFamily="34" charset="0"/>
              <a:buChar char="•"/>
            </a:pPr>
            <a:r>
              <a:rPr lang="en-US" sz="16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Integration of Satellite Data:</a:t>
            </a:r>
            <a:r>
              <a:rPr lang="en-US" sz="16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I</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ncorporate satellite data, such as cloud cover and precipitation estimates, to improve the accuracy of rainfall predictions, especially in remote or data-scarce regions</a:t>
            </a:r>
            <a:r>
              <a:rPr lang="en-US" sz="16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a:t>
            </a:r>
          </a:p>
          <a:p>
            <a:pPr algn="l">
              <a:lnSpc>
                <a:spcPct val="150000"/>
              </a:lnSpc>
              <a:buFont typeface="Arial" panose="020B0604020202020204" pitchFamily="34" charset="0"/>
              <a:buChar char="•"/>
            </a:pPr>
            <a:r>
              <a:rPr lang="en-US" sz="16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Temporal Data Analysis:</a:t>
            </a:r>
            <a:r>
              <a:rPr lang="en-US" sz="16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I</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mplement advanced temporal data analysis techniques to capture patterns and trends in weather data over time, leading to more accurate and reliable predictions.</a:t>
            </a:r>
          </a:p>
          <a:p>
            <a:pPr algn="l">
              <a:lnSpc>
                <a:spcPct val="150000"/>
              </a:lnSpc>
              <a:buFont typeface="Arial" panose="020B0604020202020204" pitchFamily="34" charset="0"/>
              <a:buChar char="•"/>
            </a:pPr>
            <a:r>
              <a:rPr lang="en-US" sz="16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Ensemble Learning Techniques:</a:t>
            </a:r>
            <a:r>
              <a:rPr lang="en-US" sz="16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E</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xplore ensemble learning techniques, such as stacking or blending, to combine multiple models and improve prediction performance.</a:t>
            </a:r>
          </a:p>
          <a:p>
            <a:pPr algn="l">
              <a:lnSpc>
                <a:spcPct val="150000"/>
              </a:lnSpc>
              <a:buFont typeface="Arial" panose="020B0604020202020204" pitchFamily="34" charset="0"/>
              <a:buChar char="•"/>
            </a:pPr>
            <a:r>
              <a:rPr lang="en-US" sz="1600" b="1"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Online Learning:</a:t>
            </a:r>
            <a:r>
              <a:rPr lang="en-US" sz="16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I</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mplement online learning algorithms to continuously update the model with new data, allowing for more adaptive and real-time predictions.</a:t>
            </a:r>
            <a:endParaRPr lang="en-US" sz="1600" b="0" i="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907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1631E-419B-EBA5-F2DD-6CEE4B559192}"/>
              </a:ext>
            </a:extLst>
          </p:cNvPr>
          <p:cNvSpPr>
            <a:spLocks noGrp="1"/>
          </p:cNvSpPr>
          <p:nvPr>
            <p:ph type="title"/>
          </p:nvPr>
        </p:nvSpPr>
        <p:spPr>
          <a:xfrm>
            <a:off x="441789" y="230425"/>
            <a:ext cx="8229600" cy="1143000"/>
          </a:xfrm>
        </p:spPr>
        <p:txBody>
          <a:bodyPr/>
          <a:lstStyle/>
          <a:p>
            <a:r>
              <a:rPr lang="en-IN" sz="3200" dirty="0">
                <a:latin typeface="Times New Roman" panose="02020603050405020304" pitchFamily="18" charset="0"/>
                <a:cs typeface="Times New Roman" panose="02020603050405020304" pitchFamily="18" charset="0"/>
              </a:rPr>
              <a:t>CONCLUSION</a:t>
            </a:r>
            <a:r>
              <a:rPr lang="en-IN" dirty="0"/>
              <a:t> </a:t>
            </a:r>
          </a:p>
        </p:txBody>
      </p:sp>
      <p:sp>
        <p:nvSpPr>
          <p:cNvPr id="3" name="Content Placeholder 2">
            <a:extLst>
              <a:ext uri="{FF2B5EF4-FFF2-40B4-BE49-F238E27FC236}">
                <a16:creationId xmlns:a16="http://schemas.microsoft.com/office/drawing/2014/main" id="{AB2ED700-D97E-1EC1-C558-74F0D9EB0353}"/>
              </a:ext>
            </a:extLst>
          </p:cNvPr>
          <p:cNvSpPr>
            <a:spLocks noGrp="1"/>
          </p:cNvSpPr>
          <p:nvPr>
            <p:ph idx="1"/>
          </p:nvPr>
        </p:nvSpPr>
        <p:spPr>
          <a:xfrm>
            <a:off x="323528" y="1373425"/>
            <a:ext cx="8229600" cy="4389120"/>
          </a:xfrm>
        </p:spPr>
        <p:txBody>
          <a:bodyPr>
            <a:normAutofit/>
          </a:bodyPr>
          <a:lstStyle/>
          <a:p>
            <a:pPr algn="just">
              <a:lnSpc>
                <a:spcPct val="150000"/>
              </a:lnSpc>
            </a:pP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The application of machine learning classification algorithms for rainfall prediction represents a significant advancement in weather forecasting. by leveraging historical weather data and meteorological variables, machine learning models can provide accurate and timely predictions of rainfall, which is crucial for various sectors such as agriculture, water resource management, and disaster preparedness.</a:t>
            </a:r>
          </a:p>
          <a:p>
            <a:pPr algn="just">
              <a:lnSpc>
                <a:spcPct val="150000"/>
              </a:lnSpc>
            </a:pPr>
            <a:r>
              <a:rPr lang="en-US" sz="1600" cap="none"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T</a:t>
            </a:r>
            <a:r>
              <a:rPr lang="en-US" sz="1600" b="0" i="0" cap="none"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hroughout this project, we have explored the data collection, preprocessing, feature selection, model training, and evaluation processes involved in developing a rain prediction model. we have also discussed the limitations of traditional meteorological models and the potential benefits of using machine learning for rainfall prediction.</a:t>
            </a:r>
            <a:endParaRPr lang="en-IN" sz="1600" cap="none"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32920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o Write A Thank You Note In Five Easy Steps">
            <a:extLst>
              <a:ext uri="{FF2B5EF4-FFF2-40B4-BE49-F238E27FC236}">
                <a16:creationId xmlns:a16="http://schemas.microsoft.com/office/drawing/2014/main" id="{9F17723A-C10F-C66E-D84E-8B10A486E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3178" y="1484784"/>
            <a:ext cx="6037643" cy="3392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04685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TM04033925[[fn=Droplet]]</Template>
  <TotalTime>610</TotalTime>
  <Words>1631</Words>
  <Application>Microsoft Office PowerPoint</Application>
  <PresentationFormat>On-screen Show (4:3)</PresentationFormat>
  <Paragraphs>83</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Times New Roman</vt:lpstr>
      <vt:lpstr>Tw Cen MT</vt:lpstr>
      <vt:lpstr>Wingdings</vt:lpstr>
      <vt:lpstr>Droplet</vt:lpstr>
      <vt:lpstr>PowerPoint Presentation</vt:lpstr>
      <vt:lpstr>INTRODUCTION</vt:lpstr>
      <vt:lpstr>ABSTRACT</vt:lpstr>
      <vt:lpstr>PROBLEM STATEMENT</vt:lpstr>
      <vt:lpstr>EXISTING SYSTEM</vt:lpstr>
      <vt:lpstr>DRAWBACKS</vt:lpstr>
      <vt:lpstr>PROPOSED SYSTEM</vt:lpstr>
      <vt:lpstr>SYSTEM REQUIREMENTS</vt:lpstr>
      <vt:lpstr>SYSTEM ARCHITECTURE</vt:lpstr>
      <vt:lpstr>MODULES</vt:lpstr>
      <vt:lpstr>APPLICATIONS</vt:lpstr>
      <vt:lpstr>PERFORMANCE METRICS</vt:lpstr>
      <vt:lpstr>EXPECTED RESULT</vt:lpstr>
      <vt:lpstr>PowerPoint Presentation</vt:lpstr>
      <vt:lpstr>PowerPoint Presentation</vt:lpstr>
      <vt:lpstr>FUTURE ENHANCEMENT</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SRIGANESH</dc:creator>
  <cp:lastModifiedBy>Sura Charan Kumar Reddy</cp:lastModifiedBy>
  <cp:revision>87</cp:revision>
  <dcterms:created xsi:type="dcterms:W3CDTF">2023-06-05T01:55:28Z</dcterms:created>
  <dcterms:modified xsi:type="dcterms:W3CDTF">2024-05-10T05:38:44Z</dcterms:modified>
</cp:coreProperties>
</file>